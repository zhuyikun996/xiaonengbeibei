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39"/>
  </p:handoutMasterIdLst>
  <p:sldIdLst>
    <p:sldId id="736" r:id="rId4"/>
    <p:sldId id="761" r:id="rId6"/>
    <p:sldId id="762" r:id="rId7"/>
    <p:sldId id="760" r:id="rId8"/>
    <p:sldId id="734" r:id="rId9"/>
    <p:sldId id="739" r:id="rId10"/>
    <p:sldId id="740" r:id="rId11"/>
    <p:sldId id="741" r:id="rId12"/>
    <p:sldId id="742" r:id="rId13"/>
    <p:sldId id="743" r:id="rId14"/>
    <p:sldId id="744" r:id="rId15"/>
    <p:sldId id="745" r:id="rId16"/>
    <p:sldId id="746" r:id="rId17"/>
    <p:sldId id="747" r:id="rId18"/>
    <p:sldId id="748" r:id="rId19"/>
    <p:sldId id="749" r:id="rId20"/>
    <p:sldId id="750" r:id="rId21"/>
    <p:sldId id="751" r:id="rId22"/>
    <p:sldId id="752" r:id="rId23"/>
    <p:sldId id="753" r:id="rId24"/>
    <p:sldId id="754" r:id="rId25"/>
    <p:sldId id="755" r:id="rId26"/>
    <p:sldId id="757" r:id="rId27"/>
    <p:sldId id="758" r:id="rId28"/>
    <p:sldId id="759" r:id="rId29"/>
    <p:sldId id="785" r:id="rId30"/>
    <p:sldId id="786" r:id="rId31"/>
    <p:sldId id="788" r:id="rId32"/>
    <p:sldId id="787" r:id="rId33"/>
    <p:sldId id="792" r:id="rId34"/>
    <p:sldId id="789" r:id="rId35"/>
    <p:sldId id="790" r:id="rId36"/>
    <p:sldId id="791" r:id="rId37"/>
    <p:sldId id="794" r:id="rId38"/>
  </p:sldIdLst>
  <p:sldSz cx="12192000" cy="6858000"/>
  <p:notesSz cx="7103745" cy="10234295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8FC7"/>
    <a:srgbClr val="2F5597"/>
    <a:srgbClr val="EAEEF5"/>
    <a:srgbClr val="F4B183"/>
    <a:srgbClr val="CF3E3E"/>
    <a:srgbClr val="FFD34F"/>
    <a:srgbClr val="548235"/>
    <a:srgbClr val="A9D18E"/>
    <a:srgbClr val="FBE5D6"/>
    <a:srgbClr val="F1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70" autoAdjust="0"/>
    <p:restoredTop sz="86408"/>
  </p:normalViewPr>
  <p:slideViewPr>
    <p:cSldViewPr snapToGrid="0">
      <p:cViewPr varScale="1">
        <p:scale>
          <a:sx n="60" d="100"/>
          <a:sy n="60" d="100"/>
        </p:scale>
        <p:origin x="184" y="6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34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4" Type="http://schemas.openxmlformats.org/officeDocument/2006/relationships/tags" Target="tags/tag259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3" y="1279287"/>
            <a:ext cx="6140578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用例句讲解词汇，例题形式为：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、英英释义（给选项）</a:t>
            </a:r>
            <a:r>
              <a:rPr lang="en-US" altLang="zh-CN">
                <a:sym typeface="+mn-ea"/>
              </a:rPr>
              <a:t>or 2</a:t>
            </a:r>
            <a:r>
              <a:rPr lang="zh-CN" altLang="en-US">
                <a:sym typeface="+mn-ea"/>
              </a:rPr>
              <a:t>、填空（重点词组考察搭配）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基础词汇以串讲形式呈现，仅展示单词和</a:t>
            </a:r>
            <a:r>
              <a:rPr lang="zh-CN" altLang="en-US">
                <a:sym typeface="+mn-ea"/>
              </a:rPr>
              <a:t>释义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基础词汇以串讲形式呈现，仅展示单词和</a:t>
            </a:r>
            <a:r>
              <a:rPr lang="zh-CN" altLang="en-US">
                <a:sym typeface="+mn-ea"/>
              </a:rPr>
              <a:t>释义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</a:t>
            </a:r>
            <a:r>
              <a:rPr lang="en-US" altLang="zh-CN"/>
              <a:t> 1</a:t>
            </a:r>
            <a:r>
              <a:rPr lang="zh-CN" altLang="en-US"/>
              <a:t>、口语部分对话；</a:t>
            </a:r>
            <a:r>
              <a:rPr lang="en-US" altLang="zh-CN"/>
              <a:t>2</a:t>
            </a:r>
            <a:r>
              <a:rPr lang="zh-CN" altLang="en-US"/>
              <a:t>、听力</a:t>
            </a:r>
            <a:r>
              <a:rPr lang="en-US" altLang="zh-CN"/>
              <a:t>part3</a:t>
            </a:r>
            <a:endParaRPr lang="zh-CN" altLang="en-US"/>
          </a:p>
          <a:p>
            <a:r>
              <a:rPr lang="zh-CN" altLang="en-US"/>
              <a:t>答案</a:t>
            </a:r>
            <a:r>
              <a:rPr lang="en-US" altLang="zh-CN"/>
              <a:t> 1</a:t>
            </a:r>
            <a:r>
              <a:rPr lang="zh-CN" altLang="en-US"/>
              <a:t>、</a:t>
            </a:r>
            <a:r>
              <a:rPr lang="en-US" altLang="zh-CN"/>
              <a:t>long</a:t>
            </a:r>
            <a:r>
              <a:rPr lang="zh-CN" altLang="en-US"/>
              <a:t>（或</a:t>
            </a:r>
            <a:r>
              <a:rPr lang="en-US" altLang="zh-CN"/>
              <a:t>how much time</a:t>
            </a:r>
            <a:r>
              <a:rPr lang="zh-CN" altLang="en-US"/>
              <a:t>）；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much</a:t>
            </a:r>
            <a:r>
              <a:rPr lang="zh-CN" altLang="en-US">
                <a:sym typeface="+mn-ea"/>
              </a:rPr>
              <a:t>（或</a:t>
            </a:r>
            <a:r>
              <a:rPr lang="en-US" altLang="zh-CN">
                <a:sym typeface="+mn-ea"/>
              </a:rPr>
              <a:t>how much money</a:t>
            </a:r>
            <a:r>
              <a:rPr lang="zh-CN" altLang="en-US">
                <a:sym typeface="+mn-ea"/>
              </a:rPr>
              <a:t>）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出自阅读</a:t>
            </a:r>
            <a:r>
              <a:rPr lang="en-US" altLang="zh-CN"/>
              <a:t>part1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出自阅读</a:t>
            </a:r>
            <a:r>
              <a:rPr lang="en-US" altLang="zh-CN"/>
              <a:t>part3</a:t>
            </a:r>
            <a:r>
              <a:rPr lang="zh-CN" altLang="en-US"/>
              <a:t>；答案</a:t>
            </a:r>
            <a:r>
              <a:rPr lang="en-US" altLang="zh-CN"/>
              <a:t>A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出自阅读</a:t>
            </a:r>
            <a:r>
              <a:rPr lang="en-US" altLang="zh-CN">
                <a:sym typeface="+mn-ea"/>
              </a:rPr>
              <a:t>part4</a:t>
            </a:r>
            <a:r>
              <a:rPr lang="zh-CN" altLang="en-US">
                <a:sym typeface="+mn-ea"/>
              </a:rPr>
              <a:t>完形填空；</a:t>
            </a:r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A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出处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、阅读第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部分；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、听力题干；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题目来源阅读</a:t>
            </a:r>
            <a:r>
              <a:rPr lang="en-US" altLang="zh-CN">
                <a:sym typeface="+mn-ea"/>
              </a:rPr>
              <a:t>part4</a:t>
            </a:r>
            <a:r>
              <a:rPr lang="zh-CN" altLang="en-US">
                <a:sym typeface="+mn-ea"/>
              </a:rPr>
              <a:t>完形填</a:t>
            </a:r>
            <a:r>
              <a:rPr lang="en-US" altLang="zh-CN">
                <a:sym typeface="+mn-ea"/>
              </a:rPr>
              <a:t>--</a:t>
            </a:r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put it up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张贴）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出处：</a:t>
            </a:r>
            <a:r>
              <a:rPr lang="zh-CN" altLang="en-US">
                <a:sym typeface="+mn-ea"/>
              </a:rPr>
              <a:t>阅读第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部分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题目</a:t>
            </a:r>
            <a:r>
              <a:rPr lang="zh-CN" altLang="en-US">
                <a:sym typeface="+mn-ea"/>
              </a:rPr>
              <a:t>出处：阅读第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部分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A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B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出处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阅读</a:t>
            </a:r>
            <a:r>
              <a:rPr lang="en-US" altLang="zh-CN">
                <a:sym typeface="+mn-ea"/>
              </a:rPr>
              <a:t>part1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出处听力</a:t>
            </a:r>
            <a:r>
              <a:rPr lang="en-US" altLang="zh-CN">
                <a:sym typeface="+mn-ea"/>
              </a:rPr>
              <a:t>part1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A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出处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、听力</a:t>
            </a:r>
            <a:r>
              <a:rPr lang="en-US" altLang="zh-CN">
                <a:sym typeface="+mn-ea"/>
              </a:rPr>
              <a:t>part5</a:t>
            </a:r>
            <a:r>
              <a:rPr lang="zh-CN" altLang="en-US">
                <a:sym typeface="+mn-ea"/>
              </a:rPr>
              <a:t>；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ym typeface="+mn-ea"/>
              </a:rPr>
              <a:t>听力</a:t>
            </a:r>
            <a:r>
              <a:rPr lang="en-US" altLang="zh-CN">
                <a:sym typeface="+mn-ea"/>
              </a:rPr>
              <a:t>part3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A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出自阅读</a:t>
            </a:r>
            <a:r>
              <a:rPr lang="en-US" altLang="zh-CN"/>
              <a:t>part1</a:t>
            </a:r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出自阅读</a:t>
            </a:r>
            <a:r>
              <a:rPr lang="en-US" altLang="zh-CN">
                <a:sym typeface="+mn-ea"/>
              </a:rPr>
              <a:t>part3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B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出自阅读</a:t>
            </a:r>
            <a:r>
              <a:rPr lang="en-US" altLang="zh-CN">
                <a:sym typeface="+mn-ea"/>
              </a:rPr>
              <a:t>part1</a:t>
            </a:r>
            <a:endParaRPr lang="en-US" altLang="zh-CN"/>
          </a:p>
          <a:p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A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出处阅读</a:t>
            </a:r>
            <a:r>
              <a:rPr lang="en-US" altLang="zh-CN"/>
              <a:t>part3</a:t>
            </a:r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出自阅读</a:t>
            </a:r>
            <a:r>
              <a:rPr lang="en-US" altLang="zh-CN"/>
              <a:t>part2</a:t>
            </a:r>
            <a:endParaRPr lang="en-US" altLang="zh-CN"/>
          </a:p>
          <a:p>
            <a:r>
              <a:rPr lang="zh-CN" altLang="en-US"/>
              <a:t>答案</a:t>
            </a:r>
            <a:r>
              <a:rPr lang="en-US" altLang="zh-CN"/>
              <a:t> </a:t>
            </a:r>
            <a:r>
              <a:rPr lang="en-US" altLang="zh-CN"/>
              <a:t>varieties</a:t>
            </a:r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出自阅读</a:t>
            </a:r>
            <a:r>
              <a:rPr lang="en-US" altLang="zh-CN">
                <a:sym typeface="+mn-ea"/>
              </a:rPr>
              <a:t>part1</a:t>
            </a:r>
            <a:endParaRPr lang="en-US" altLang="zh-CN"/>
          </a:p>
          <a:p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B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出处阅读</a:t>
            </a:r>
            <a:r>
              <a:rPr lang="en-US" altLang="zh-CN">
                <a:sym typeface="+mn-ea"/>
              </a:rPr>
              <a:t>part4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完形填空）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A</a:t>
            </a:r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出处听力原文</a:t>
            </a:r>
            <a:r>
              <a:rPr lang="en-US" altLang="zh-CN">
                <a:sym typeface="+mn-ea"/>
              </a:rPr>
              <a:t>part5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答案</a:t>
            </a:r>
            <a:r>
              <a:rPr lang="en-US" altLang="zh-CN">
                <a:sym typeface="+mn-ea"/>
              </a:rPr>
              <a:t>A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</a:t>
            </a:r>
            <a:r>
              <a:rPr lang="en-US" altLang="zh-CN"/>
              <a:t>1</a:t>
            </a:r>
            <a:r>
              <a:rPr lang="zh-CN" altLang="en-US"/>
              <a:t>、口语问答部分；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听力原文</a:t>
            </a:r>
            <a:r>
              <a:rPr lang="en-US" altLang="zh-CN">
                <a:sym typeface="+mn-ea"/>
              </a:rPr>
              <a:t>part3</a:t>
            </a:r>
            <a:endParaRPr lang="zh-CN" altLang="en-US"/>
          </a:p>
          <a:p>
            <a:r>
              <a:rPr lang="zh-CN" altLang="en-US"/>
              <a:t>答案</a:t>
            </a:r>
            <a:r>
              <a:rPr lang="en-US" altLang="zh-CN"/>
              <a:t> </a:t>
            </a:r>
            <a:r>
              <a:rPr lang="en-US" altLang="zh-CN"/>
              <a:t>Which</a:t>
            </a:r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出自阅读</a:t>
            </a:r>
            <a:r>
              <a:rPr lang="en-US" altLang="zh-CN"/>
              <a:t>part1</a:t>
            </a:r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</a:t>
            </a:r>
            <a:r>
              <a:rPr lang="zh-CN" altLang="en-US">
                <a:sym typeface="+mn-ea"/>
              </a:rPr>
              <a:t>听力原文</a:t>
            </a:r>
            <a:r>
              <a:rPr lang="en-US" altLang="zh-CN">
                <a:sym typeface="+mn-ea"/>
              </a:rPr>
              <a:t>part4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</a:t>
            </a:r>
            <a:r>
              <a:rPr lang="en-US" altLang="zh-CN"/>
              <a:t> </a:t>
            </a:r>
            <a:r>
              <a:rPr lang="zh-CN" altLang="en-US"/>
              <a:t>模拟题阅读</a:t>
            </a:r>
            <a:r>
              <a:rPr lang="en-US" altLang="zh-CN"/>
              <a:t>part4</a:t>
            </a:r>
            <a:r>
              <a:rPr lang="zh-CN" altLang="en-US"/>
              <a:t>（</a:t>
            </a:r>
            <a:r>
              <a:rPr lang="zh-CN" altLang="en-US"/>
              <a:t>完形填空）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出处、听力第</a:t>
            </a:r>
            <a:r>
              <a:rPr lang="en-US" altLang="zh-CN"/>
              <a:t>3</a:t>
            </a:r>
            <a:r>
              <a:rPr lang="zh-CN" altLang="en-US"/>
              <a:t>部分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</a:t>
            </a:r>
            <a:r>
              <a:rPr lang="en-US" altLang="zh-CN"/>
              <a:t> </a:t>
            </a:r>
            <a:r>
              <a:rPr lang="zh-CN" altLang="en-US"/>
              <a:t>听力</a:t>
            </a:r>
            <a:r>
              <a:rPr lang="en-US" altLang="zh-CN"/>
              <a:t>part4</a:t>
            </a:r>
            <a:r>
              <a:rPr lang="zh-CN" altLang="en-US"/>
              <a:t>原文</a:t>
            </a:r>
            <a:endParaRPr lang="zh-CN" altLang="en-US"/>
          </a:p>
          <a:p>
            <a:r>
              <a:rPr lang="zh-CN" altLang="en-US"/>
              <a:t>答案</a:t>
            </a:r>
            <a:r>
              <a:rPr lang="zh-CN" altLang="en-US" u="sng"/>
              <a:t>C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</a:t>
            </a:r>
            <a:r>
              <a:rPr lang="en-US" altLang="zh-CN"/>
              <a:t> 1</a:t>
            </a:r>
            <a:r>
              <a:rPr lang="zh-CN" altLang="en-US"/>
              <a:t>、听力</a:t>
            </a:r>
            <a:r>
              <a:rPr lang="en-US" altLang="zh-CN"/>
              <a:t>part1</a:t>
            </a:r>
            <a:r>
              <a:rPr lang="zh-CN" altLang="en-US"/>
              <a:t>原文；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听力</a:t>
            </a:r>
            <a:r>
              <a:rPr lang="en-US" altLang="zh-CN">
                <a:sym typeface="+mn-ea"/>
              </a:rPr>
              <a:t>part4</a:t>
            </a:r>
            <a:r>
              <a:rPr lang="zh-CN" altLang="en-US">
                <a:sym typeface="+mn-ea"/>
              </a:rPr>
              <a:t>原文</a:t>
            </a:r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</a:t>
            </a:r>
            <a:r>
              <a:rPr lang="en-US" altLang="zh-CN"/>
              <a:t> </a:t>
            </a:r>
            <a:r>
              <a:rPr lang="zh-CN" altLang="en-US"/>
              <a:t>均来自听力</a:t>
            </a:r>
            <a:r>
              <a:rPr lang="en-US" altLang="zh-CN"/>
              <a:t>part5</a:t>
            </a:r>
            <a:r>
              <a:rPr lang="zh-CN" altLang="en-US"/>
              <a:t>原文</a:t>
            </a:r>
            <a:endParaRPr lang="zh-CN" altLang="en-US"/>
          </a:p>
          <a:p>
            <a:r>
              <a:rPr lang="zh-CN" altLang="en-US">
                <a:sym typeface="+mn-ea"/>
              </a:rPr>
              <a:t>）</a:t>
            </a:r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</a:t>
            </a:r>
            <a:r>
              <a:rPr lang="en-US" altLang="zh-CN"/>
              <a:t> 1</a:t>
            </a:r>
            <a:r>
              <a:rPr lang="zh-CN" altLang="en-US"/>
              <a:t>、阅读</a:t>
            </a:r>
            <a:r>
              <a:rPr lang="en-US" altLang="zh-CN"/>
              <a:t>part 2</a:t>
            </a:r>
            <a:r>
              <a:rPr lang="zh-CN" altLang="en-US"/>
              <a:t>；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阅读</a:t>
            </a:r>
            <a:r>
              <a:rPr lang="en-US" altLang="zh-CN">
                <a:sym typeface="+mn-ea"/>
              </a:rPr>
              <a:t>part 3</a:t>
            </a:r>
            <a:endParaRPr lang="en-US" altLang="zh-CN">
              <a:sym typeface="+mn-ea"/>
            </a:endParaRPr>
          </a:p>
          <a:p>
            <a:r>
              <a:rPr lang="zh-CN" altLang="en-US"/>
              <a:t>答案</a:t>
            </a:r>
            <a:r>
              <a:rPr lang="en-US" altLang="zh-CN"/>
              <a:t>B</a:t>
            </a:r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</a:t>
            </a:r>
            <a:r>
              <a:rPr lang="en-US" altLang="zh-CN"/>
              <a:t> </a:t>
            </a:r>
            <a:r>
              <a:rPr lang="zh-CN" altLang="en-US"/>
              <a:t>阅读</a:t>
            </a:r>
            <a:r>
              <a:rPr lang="en-US" altLang="zh-CN"/>
              <a:t>part1</a:t>
            </a:r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</a:t>
            </a:r>
            <a:r>
              <a:rPr lang="en-US" altLang="zh-CN"/>
              <a:t> </a:t>
            </a:r>
            <a:r>
              <a:rPr lang="zh-CN" altLang="en-US"/>
              <a:t>阅读</a:t>
            </a:r>
            <a:r>
              <a:rPr lang="en-US" altLang="zh-CN"/>
              <a:t>part4</a:t>
            </a:r>
            <a:r>
              <a:rPr lang="zh-CN" altLang="en-US"/>
              <a:t>（完形填空）</a:t>
            </a:r>
            <a:endParaRPr lang="zh-CN" altLang="en-US"/>
          </a:p>
          <a:p>
            <a:r>
              <a:rPr lang="zh-CN" altLang="en-US"/>
              <a:t>答案</a:t>
            </a:r>
            <a:r>
              <a:rPr lang="zh-CN" altLang="en-US" u="sng"/>
              <a:t>A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出处</a:t>
            </a:r>
            <a:r>
              <a:rPr lang="en-US" altLang="zh-CN"/>
              <a:t> </a:t>
            </a:r>
            <a:r>
              <a:rPr lang="zh-CN" altLang="en-US"/>
              <a:t>均来自阅读</a:t>
            </a:r>
            <a:r>
              <a:rPr lang="en-US" altLang="zh-CN"/>
              <a:t>part 3</a:t>
            </a:r>
            <a:endParaRPr lang="en-US" altLang="zh-CN"/>
          </a:p>
          <a:p>
            <a:r>
              <a:rPr lang="zh-CN" altLang="en-US"/>
              <a:t>答案</a:t>
            </a:r>
            <a:r>
              <a:rPr lang="en-US" altLang="zh-CN"/>
              <a:t>A</a:t>
            </a:r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3" Type="http://schemas.openxmlformats.org/officeDocument/2006/relationships/tags" Target="../tags/tag139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/>
          <p:cNvSpPr/>
          <p:nvPr userDrawn="1">
            <p:custDataLst>
              <p:tags r:id="rId2"/>
            </p:custDataLst>
          </p:nvPr>
        </p:nvSpPr>
        <p:spPr>
          <a:xfrm rot="15957559">
            <a:off x="8981440" y="-1426845"/>
            <a:ext cx="869315" cy="5673725"/>
          </a:xfrm>
          <a:custGeom>
            <a:avLst/>
            <a:gdLst>
              <a:gd name="connsiteX0" fmla="*/ 927517 w 927517"/>
              <a:gd name="connsiteY0" fmla="*/ 5663579 h 5663579"/>
              <a:gd name="connsiteX1" fmla="*/ 0 w 927517"/>
              <a:gd name="connsiteY1" fmla="*/ 5577535 h 5663579"/>
              <a:gd name="connsiteX2" fmla="*/ 419317 w 927517"/>
              <a:gd name="connsiteY2" fmla="*/ 0 h 5663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7517" h="5663579">
                <a:moveTo>
                  <a:pt x="927517" y="5663579"/>
                </a:moveTo>
                <a:lnTo>
                  <a:pt x="0" y="5577535"/>
                </a:lnTo>
                <a:lnTo>
                  <a:pt x="419317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 rot="4971377">
            <a:off x="5634990" y="-4564380"/>
            <a:ext cx="940435" cy="12461240"/>
          </a:xfrm>
          <a:custGeom>
            <a:avLst/>
            <a:gdLst>
              <a:gd name="connsiteX0" fmla="*/ 0 w 1132861"/>
              <a:gd name="connsiteY0" fmla="*/ 0 h 12429370"/>
              <a:gd name="connsiteX1" fmla="*/ 421422 w 1132861"/>
              <a:gd name="connsiteY1" fmla="*/ 52817 h 12429370"/>
              <a:gd name="connsiteX2" fmla="*/ 1132861 w 1132861"/>
              <a:gd name="connsiteY2" fmla="*/ 12429370 h 12429370"/>
              <a:gd name="connsiteX3" fmla="*/ 0 w 1132861"/>
              <a:gd name="connsiteY3" fmla="*/ 12287388 h 12429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2861" h="12429370">
                <a:moveTo>
                  <a:pt x="0" y="0"/>
                </a:moveTo>
                <a:lnTo>
                  <a:pt x="421422" y="52817"/>
                </a:lnTo>
                <a:lnTo>
                  <a:pt x="1132861" y="12429370"/>
                </a:lnTo>
                <a:lnTo>
                  <a:pt x="0" y="1228738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 rot="5107084">
            <a:off x="4527550" y="-3256915"/>
            <a:ext cx="550545" cy="9709785"/>
          </a:xfrm>
          <a:custGeom>
            <a:avLst/>
            <a:gdLst>
              <a:gd name="connsiteX0" fmla="*/ 0 w 587624"/>
              <a:gd name="connsiteY0" fmla="*/ 0 h 9742831"/>
              <a:gd name="connsiteX1" fmla="*/ 587624 w 587624"/>
              <a:gd name="connsiteY1" fmla="*/ 9742831 h 9742831"/>
              <a:gd name="connsiteX2" fmla="*/ 0 w 587624"/>
              <a:gd name="connsiteY2" fmla="*/ 9685968 h 9742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7624" h="9742831">
                <a:moveTo>
                  <a:pt x="0" y="0"/>
                </a:moveTo>
                <a:lnTo>
                  <a:pt x="587624" y="9742831"/>
                </a:lnTo>
                <a:lnTo>
                  <a:pt x="0" y="968596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等腰三角形 11"/>
          <p:cNvSpPr/>
          <p:nvPr userDrawn="1">
            <p:custDataLst>
              <p:tags r:id="rId5"/>
            </p:custDataLst>
          </p:nvPr>
        </p:nvSpPr>
        <p:spPr>
          <a:xfrm rot="16200000">
            <a:off x="7826138" y="2492134"/>
            <a:ext cx="997432" cy="77343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730319" y="2702794"/>
            <a:ext cx="7117545" cy="111853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2730319" y="3886684"/>
            <a:ext cx="7117545" cy="67631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3630542" y="4681986"/>
            <a:ext cx="2523129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2"/>
            </p:custDataLst>
          </p:nvPr>
        </p:nvSpPr>
        <p:spPr>
          <a:xfrm>
            <a:off x="6402188" y="4681986"/>
            <a:ext cx="2523127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4" name="任意多边形: 形状 8"/>
          <p:cNvSpPr/>
          <p:nvPr userDrawn="1">
            <p:custDataLst>
              <p:tags r:id="rId13"/>
            </p:custDataLst>
          </p:nvPr>
        </p:nvSpPr>
        <p:spPr>
          <a:xfrm rot="5400000">
            <a:off x="5242560" y="-5251450"/>
            <a:ext cx="1740535" cy="12245975"/>
          </a:xfrm>
          <a:custGeom>
            <a:avLst/>
            <a:gdLst>
              <a:gd name="connsiteX0" fmla="*/ 0 w 1930397"/>
              <a:gd name="connsiteY0" fmla="*/ 12192007 h 12192007"/>
              <a:gd name="connsiteX1" fmla="*/ 0 w 1930397"/>
              <a:gd name="connsiteY1" fmla="*/ 0 h 12192007"/>
              <a:gd name="connsiteX2" fmla="*/ 758239 w 1930397"/>
              <a:gd name="connsiteY2" fmla="*/ 0 h 12192007"/>
              <a:gd name="connsiteX3" fmla="*/ 1930397 w 1930397"/>
              <a:gd name="connsiteY3" fmla="*/ 12192007 h 12192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397" h="12192007">
                <a:moveTo>
                  <a:pt x="0" y="12192007"/>
                </a:moveTo>
                <a:lnTo>
                  <a:pt x="0" y="0"/>
                </a:lnTo>
                <a:lnTo>
                  <a:pt x="758239" y="0"/>
                </a:lnTo>
                <a:lnTo>
                  <a:pt x="1930397" y="121920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2067560" y="3350895"/>
            <a:ext cx="153670" cy="3074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4001597" y="5613400"/>
            <a:ext cx="8190403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5"/>
            </p:custDataLst>
          </p:nvPr>
        </p:nvGrpSpPr>
        <p:grpSpPr>
          <a:xfrm rot="10800000">
            <a:off x="-1" y="0"/>
            <a:ext cx="12192000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6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>
              <p:custDataLst>
                <p:tags r:id="rId7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3500907" y="3090044"/>
            <a:ext cx="5190185" cy="740727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4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3500907" y="3883113"/>
            <a:ext cx="5190185" cy="1477027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08342" y="5053054"/>
            <a:ext cx="1583658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>
              <p:custDataLst>
                <p:tags r:id="rId4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88374" y="2588654"/>
            <a:ext cx="5015250" cy="1519707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 flipH="1">
            <a:off x="8603626" y="3112882"/>
            <a:ext cx="436739" cy="542227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3151635" y="3119499"/>
            <a:ext cx="436739" cy="542227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10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11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>
            <a:off x="11009630" y="351790"/>
            <a:ext cx="737870" cy="916305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4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5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6"/>
            </p:custDataLst>
          </p:nvPr>
        </p:nvGrpSpPr>
        <p:grpSpPr>
          <a:xfrm rot="5400000">
            <a:off x="443865" y="5584825"/>
            <a:ext cx="737870" cy="916305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0" indent="0"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9"/>
            </p:custDataLst>
          </p:nvPr>
        </p:nvGrpSpPr>
        <p:grpSpPr>
          <a:xfrm>
            <a:off x="-1" y="0"/>
            <a:ext cx="4823460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10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9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10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1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04520" y="669290"/>
            <a:ext cx="10976610" cy="565150"/>
          </a:xfrm>
        </p:spPr>
        <p:txBody>
          <a:bodyPr anchor="ctr"/>
          <a:lstStyle>
            <a:lvl1pPr algn="ctr">
              <a:lnSpc>
                <a:spcPct val="100000"/>
              </a:lnSpc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1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bg1"/>
              </a:solidFill>
              <a:latin typeface="Viner Hand ITC" panose="03070502030502020203" charset="0"/>
              <a:ea typeface="微软雅黑" panose="020B050302020402020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5457825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6"/>
            </p:custDataLst>
          </p:nvPr>
        </p:nvGrpSpPr>
        <p:grpSpPr>
          <a:xfrm>
            <a:off x="6734175" y="5323840"/>
            <a:ext cx="5457825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6" Type="http://schemas.openxmlformats.org/officeDocument/2006/relationships/theme" Target="../theme/theme2.xml"/><Relationship Id="rId25" Type="http://schemas.openxmlformats.org/officeDocument/2006/relationships/tags" Target="../tags/tag157.xml"/><Relationship Id="rId24" Type="http://schemas.openxmlformats.org/officeDocument/2006/relationships/tags" Target="../tags/tag156.xml"/><Relationship Id="rId23" Type="http://schemas.openxmlformats.org/officeDocument/2006/relationships/tags" Target="../tags/tag155.xml"/><Relationship Id="rId22" Type="http://schemas.openxmlformats.org/officeDocument/2006/relationships/tags" Target="../tags/tag154.xml"/><Relationship Id="rId21" Type="http://schemas.openxmlformats.org/officeDocument/2006/relationships/tags" Target="../tags/tag153.xml"/><Relationship Id="rId20" Type="http://schemas.openxmlformats.org/officeDocument/2006/relationships/tags" Target="../tags/tag15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405130" y="525780"/>
            <a:ext cx="11393805" cy="6050280"/>
          </a:xfrm>
          <a:prstGeom prst="rect">
            <a:avLst/>
          </a:prstGeom>
          <a:noFill/>
          <a:ln w="28575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85"/>
          </a:p>
        </p:txBody>
      </p:sp>
      <p:sp>
        <p:nvSpPr>
          <p:cNvPr id="12" name="圆角矩形 11"/>
          <p:cNvSpPr/>
          <p:nvPr userDrawn="1"/>
        </p:nvSpPr>
        <p:spPr>
          <a:xfrm>
            <a:off x="2108835" y="682625"/>
            <a:ext cx="2995930" cy="120142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62000"/>
            </a:schemeClr>
          </a:solidFill>
          <a:ln>
            <a:noFill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605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" panose="020B0602020104020603" pitchFamily="34" charset="0"/>
              <a:cs typeface="Tw Cen MT" panose="020B0602020104020603" pitchFamily="34" charset="0"/>
            </a:endParaRPr>
          </a:p>
        </p:txBody>
      </p:sp>
      <p:sp>
        <p:nvSpPr>
          <p:cNvPr id="13" name="圆角矩形 12"/>
          <p:cNvSpPr/>
          <p:nvPr userDrawn="1">
            <p:custDataLst>
              <p:tags r:id="rId3"/>
            </p:custDataLst>
          </p:nvPr>
        </p:nvSpPr>
        <p:spPr>
          <a:xfrm>
            <a:off x="7115175" y="682625"/>
            <a:ext cx="3140075" cy="12014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75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圆角矩形 4"/>
          <p:cNvSpPr/>
          <p:nvPr userDrawn="1"/>
        </p:nvSpPr>
        <p:spPr>
          <a:xfrm>
            <a:off x="725805" y="2194560"/>
            <a:ext cx="10761980" cy="4168775"/>
          </a:xfrm>
          <a:prstGeom prst="roundRect">
            <a:avLst>
              <a:gd name="adj" fmla="val 11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67570" y="0"/>
            <a:ext cx="2281555" cy="5143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61.xml"/><Relationship Id="rId4" Type="http://schemas.openxmlformats.org/officeDocument/2006/relationships/image" Target="../media/image1.png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163.xml"/><Relationship Id="rId2" Type="http://schemas.openxmlformats.org/officeDocument/2006/relationships/image" Target="../media/image1.png"/><Relationship Id="rId1" Type="http://schemas.openxmlformats.org/officeDocument/2006/relationships/tags" Target="../tags/tag16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165.xml"/><Relationship Id="rId2" Type="http://schemas.openxmlformats.org/officeDocument/2006/relationships/image" Target="../media/image1.png"/><Relationship Id="rId1" Type="http://schemas.openxmlformats.org/officeDocument/2006/relationships/tags" Target="../tags/tag16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71.xml"/><Relationship Id="rId3" Type="http://schemas.openxmlformats.org/officeDocument/2006/relationships/image" Target="../media/image2.png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0.xml"/><Relationship Id="rId3" Type="http://schemas.openxmlformats.org/officeDocument/2006/relationships/image" Target="../media/image3.png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3.xml"/><Relationship Id="rId3" Type="http://schemas.openxmlformats.org/officeDocument/2006/relationships/image" Target="../media/image3.png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8.xml"/><Relationship Id="rId3" Type="http://schemas.openxmlformats.org/officeDocument/2006/relationships/image" Target="../media/image4.png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04.xml"/><Relationship Id="rId3" Type="http://schemas.openxmlformats.org/officeDocument/2006/relationships/image" Target="../media/image5.png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tags" Target="../tags/tag20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13.xml"/><Relationship Id="rId3" Type="http://schemas.openxmlformats.org/officeDocument/2006/relationships/image" Target="../media/image6.png"/><Relationship Id="rId2" Type="http://schemas.openxmlformats.org/officeDocument/2006/relationships/tags" Target="../tags/tag212.xml"/><Relationship Id="rId1" Type="http://schemas.openxmlformats.org/officeDocument/2006/relationships/tags" Target="../tags/tag211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tags" Target="../tags/tag217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tags" Target="../tags/tag220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tags" Target="../tags/tag2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tags" Target="../tags/tag227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tags" Target="../tags/tag230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" Type="http://schemas.openxmlformats.org/officeDocument/2006/relationships/tags" Target="../tags/tag243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" Type="http://schemas.openxmlformats.org/officeDocument/2006/relationships/tags" Target="../tags/tag246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" Type="http://schemas.openxmlformats.org/officeDocument/2006/relationships/tags" Target="../tags/tag25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" Type="http://schemas.openxmlformats.org/officeDocument/2006/relationships/tags" Target="../tags/tag255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258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918845" y="2773680"/>
            <a:ext cx="10720705" cy="1118235"/>
          </a:xfrm>
        </p:spPr>
        <p:txBody>
          <a:bodyPr>
            <a:normAutofit/>
          </a:bodyPr>
          <a:p>
            <a:r>
              <a:rPr lang="en-US" altLang="zh-CN" dirty="0">
                <a:solidFill>
                  <a:schemeClr val="accent1"/>
                </a:solidFill>
                <a:sym typeface="+mn-lt"/>
              </a:rPr>
              <a:t>10</a:t>
            </a:r>
            <a:r>
              <a:rPr lang="zh-CN" altLang="en-US" dirty="0">
                <a:solidFill>
                  <a:schemeClr val="accent1"/>
                </a:solidFill>
                <a:sym typeface="+mn-lt"/>
              </a:rPr>
              <a:t>天剑桥</a:t>
            </a:r>
            <a:r>
              <a:rPr lang="en-US" altLang="zh-CN" dirty="0">
                <a:solidFill>
                  <a:schemeClr val="accent1"/>
                </a:solidFill>
                <a:sym typeface="+mn-lt"/>
              </a:rPr>
              <a:t>A2</a:t>
            </a:r>
            <a:r>
              <a:rPr lang="zh-CN" altLang="en-US" dirty="0">
                <a:solidFill>
                  <a:schemeClr val="accent1"/>
                </a:solidFill>
                <a:sym typeface="+mn-lt"/>
              </a:rPr>
              <a:t>核心词汇</a:t>
            </a:r>
            <a:endParaRPr lang="zh-CN" altLang="en-US" dirty="0">
              <a:solidFill>
                <a:schemeClr val="accent1"/>
              </a:solidFill>
              <a:sym typeface="+mn-lt"/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720159" y="4035274"/>
            <a:ext cx="7117545" cy="676319"/>
          </a:xfrm>
        </p:spPr>
        <p:txBody>
          <a:bodyPr/>
          <a:p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Day 1  </a:t>
            </a:r>
            <a:r>
              <a:rPr lang="zh-CN" dirty="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日常生活——购物与住所</a:t>
            </a:r>
            <a:endParaRPr lang="zh-CN" dirty="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7324100" y="5505581"/>
            <a:ext cx="2523129" cy="412826"/>
          </a:xfrm>
        </p:spPr>
        <p:txBody>
          <a:bodyPr/>
          <a:p>
            <a:r>
              <a:rPr lang="zh-CN" altLang="en-US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主讲人：</a:t>
            </a:r>
            <a:r>
              <a:rPr lang="en-US" altLang="zh-CN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________</a:t>
            </a:r>
            <a:endParaRPr lang="en-US" altLang="zh-CN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231265"/>
            <a:ext cx="2999105" cy="676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164465"/>
            <a:ext cx="3959860" cy="640715"/>
          </a:xfr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</p:spPr>
        <p:txBody>
          <a:bodyPr/>
          <a:p>
            <a:pPr algn="ctr">
              <a:lnSpc>
                <a:spcPct val="120000"/>
              </a:lnSpc>
            </a:pPr>
            <a:r>
              <a:rPr lang="zh-CN" altLang="en-US" sz="3200">
                <a:solidFill>
                  <a:schemeClr val="bg1"/>
                </a:solidFill>
              </a:rPr>
              <a:t>基础词汇——</a:t>
            </a:r>
            <a:r>
              <a:rPr lang="en-US" altLang="zh-CN" sz="3200">
                <a:solidFill>
                  <a:schemeClr val="bg1"/>
                </a:solidFill>
              </a:rPr>
              <a:t>38</a:t>
            </a:r>
            <a:r>
              <a:rPr sz="3200">
                <a:solidFill>
                  <a:schemeClr val="bg1"/>
                </a:solidFill>
              </a:rPr>
              <a:t>个</a:t>
            </a:r>
            <a:endParaRPr sz="3200">
              <a:solidFill>
                <a:schemeClr val="bg1"/>
              </a:solidFill>
            </a:endParaRPr>
          </a:p>
        </p:txBody>
      </p:sp>
      <p:graphicFrame>
        <p:nvGraphicFramePr>
          <p:cNvPr id="6" name="内容占位符 5"/>
          <p:cNvGraphicFramePr/>
          <p:nvPr>
            <p:ph idx="1"/>
            <p:custDataLst>
              <p:tags r:id="rId1"/>
            </p:custDataLst>
          </p:nvPr>
        </p:nvGraphicFramePr>
        <p:xfrm>
          <a:off x="353060" y="1082040"/>
          <a:ext cx="11520805" cy="5586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6120"/>
                <a:gridCol w="2603500"/>
                <a:gridCol w="2482215"/>
                <a:gridCol w="897255"/>
                <a:gridCol w="2792095"/>
                <a:gridCol w="2039620"/>
              </a:tblGrid>
              <a:tr h="5276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1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block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n.街区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10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heating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n.供暖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5403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2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electricity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n.电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11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ceiling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n.天花板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8661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3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fridge</a:t>
                      </a:r>
                      <a:endParaRPr lang="zh-CN" sz="2650" b="1"/>
                    </a:p>
                    <a:p>
                      <a:pPr indent="0" algn="l">
                        <a:buNone/>
                      </a:pPr>
                      <a:r>
                        <a:rPr lang="zh-CN" sz="2650" b="1"/>
                        <a:t>refrigerator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n.冰箱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12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toothbrush/</a:t>
                      </a:r>
                      <a:endParaRPr lang="en-US" sz="2650" b="1"/>
                    </a:p>
                    <a:p>
                      <a:pPr indent="0" algn="l">
                        <a:buNone/>
                      </a:pPr>
                      <a:r>
                        <a:rPr lang="en-US" sz="2650" b="1"/>
                        <a:t>toothpaste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n.牙刷/牙</a:t>
                      </a:r>
                      <a:r>
                        <a:rPr lang="zh-CN" sz="2650" b="0"/>
                        <a:t>膏</a:t>
                      </a:r>
                      <a:endParaRPr lang="zh-CN" altLang="en-US" sz="2650" b="0"/>
                    </a:p>
                  </a:txBody>
                  <a:tcPr marL="12700" marR="12700" marT="12700" vert="horz" anchor="ctr" anchorCtr="0"/>
                </a:tc>
              </a:tr>
              <a:tr h="5524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4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gas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n.燃气；气体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13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rent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n.租金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5270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5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oven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n.烤箱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14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garage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n.车库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5276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6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microwave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n.微波炉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15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drawer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n.抽屉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5651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7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sink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n.洗碗</a:t>
                      </a:r>
                      <a:r>
                        <a:rPr lang="zh-CN" sz="2650" b="0"/>
                        <a:t>槽</a:t>
                      </a:r>
                      <a:endParaRPr lang="zh-CN" altLang="en-US" sz="2650" b="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16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wardrobe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n.衣橱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65849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8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furniture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n.家具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17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accessory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n.配件</a:t>
                      </a:r>
                      <a:r>
                        <a:rPr lang="en-US" altLang="zh-CN" sz="2650" b="1"/>
                        <a:t>/</a:t>
                      </a:r>
                      <a:r>
                        <a:rPr lang="zh-CN" altLang="en-US" sz="2650" b="1"/>
                        <a:t>配饰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82105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9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en-US" sz="2650" b="1"/>
                        <a:t>goods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2650" b="1"/>
                        <a:t>n.</a:t>
                      </a:r>
                      <a:r>
                        <a:rPr lang="zh-CN" altLang="en-US" sz="2650" b="1"/>
                        <a:t>商品</a:t>
                      </a:r>
                      <a:r>
                        <a:rPr lang="en-US" altLang="zh-CN" sz="2650" b="1"/>
                        <a:t>(</a:t>
                      </a:r>
                      <a:r>
                        <a:rPr lang="zh-CN" altLang="en-US" sz="2650" b="1"/>
                        <a:t>仅复数</a:t>
                      </a:r>
                      <a:r>
                        <a:rPr lang="en-US" altLang="zh-CN" sz="2650" b="1"/>
                        <a:t>)</a:t>
                      </a:r>
                      <a:endParaRPr lang="en-US" altLang="zh-CN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18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jewellery</a:t>
                      </a:r>
                      <a:endParaRPr lang="zh-CN" sz="2650" b="1"/>
                    </a:p>
                    <a:p>
                      <a:pPr indent="0" algn="l">
                        <a:buNone/>
                      </a:pPr>
                      <a:r>
                        <a:rPr lang="zh-CN" sz="2650" b="1"/>
                        <a:t>jewelry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n.珠宝首饰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845" y="71120"/>
            <a:ext cx="3667125" cy="8267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内容占位符 5"/>
          <p:cNvGraphicFramePr/>
          <p:nvPr>
            <p:ph idx="1"/>
            <p:custDataLst>
              <p:tags r:id="rId1"/>
            </p:custDataLst>
          </p:nvPr>
        </p:nvGraphicFramePr>
        <p:xfrm>
          <a:off x="285750" y="1165860"/>
          <a:ext cx="11645265" cy="5182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/>
                <a:gridCol w="2615565"/>
                <a:gridCol w="2357120"/>
                <a:gridCol w="736600"/>
                <a:gridCol w="2940685"/>
                <a:gridCol w="2301240"/>
              </a:tblGrid>
              <a:tr h="5276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19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entrance/exit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n.入口/出口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27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customer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2650" b="1"/>
                        <a:t> </a:t>
                      </a:r>
                      <a:r>
                        <a:rPr lang="zh-CN" sz="2650" b="1"/>
                        <a:t>n.顾客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5403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20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price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n.价格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28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leather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2650" b="1"/>
                        <a:t> </a:t>
                      </a:r>
                      <a:r>
                        <a:rPr lang="zh-CN" sz="2650" b="1"/>
                        <a:t>n.皮革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58483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21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discount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n.折扣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29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female/male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2650" b="1"/>
                        <a:t> </a:t>
                      </a:r>
                      <a:r>
                        <a:rPr lang="zh-CN" sz="2650" b="1"/>
                        <a:t>n.女性/男性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5403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22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receipt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n.收据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30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size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2650" b="1"/>
                        <a:t> </a:t>
                      </a:r>
                      <a:r>
                        <a:rPr lang="zh-CN" sz="2650" b="1"/>
                        <a:t>n.尺码；大小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5270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23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customer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n.顾客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31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lift/elevator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2650" b="1"/>
                        <a:t> </a:t>
                      </a:r>
                      <a:r>
                        <a:rPr lang="zh-CN" sz="2650" b="1"/>
                        <a:t>n.电梯（直梯）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5276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24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leather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n.皮革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32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washing machine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2650" b="1"/>
                        <a:t> </a:t>
                      </a:r>
                      <a:r>
                        <a:rPr lang="zh-CN" sz="2650" b="1"/>
                        <a:t>洗衣机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5651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25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female/male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n.女性/男性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33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air conditioner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2650" b="1"/>
                        <a:t> </a:t>
                      </a:r>
                      <a:r>
                        <a:rPr lang="zh-CN" sz="2650" b="1"/>
                        <a:t>空调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50355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26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receipt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2650" b="1"/>
                        <a:t>n.收据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34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credit card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2650" b="1"/>
                        <a:t> </a:t>
                      </a:r>
                      <a:r>
                        <a:rPr lang="zh-CN" sz="2650" b="1"/>
                        <a:t>信用卡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  <a:tr h="821055"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650" b="1"/>
                        <a:t>35</a:t>
                      </a:r>
                      <a:endParaRPr lang="en-US" altLang="zh-CN" sz="265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2650" b="1"/>
                        <a:t>cell phone/</a:t>
                      </a:r>
                      <a:endParaRPr lang="en-US" sz="2650" b="1"/>
                    </a:p>
                    <a:p>
                      <a:pPr indent="0" algn="l">
                        <a:buNone/>
                      </a:pPr>
                      <a:r>
                        <a:rPr lang="en-US" sz="2650" b="1"/>
                        <a:t>mobile phone</a:t>
                      </a:r>
                      <a:endParaRPr lang="en-US" altLang="en-US" sz="2650" b="1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2650" b="1"/>
                        <a:t> </a:t>
                      </a:r>
                      <a:r>
                        <a:rPr lang="zh-CN" sz="2650" b="1"/>
                        <a:t>手机</a:t>
                      </a:r>
                      <a:endParaRPr lang="zh-CN" altLang="en-US" sz="2650" b="1"/>
                    </a:p>
                  </a:txBody>
                  <a:tcPr marL="12700" marR="12700" marT="12700" vert="horz" anchor="ctr" anchorCtr="0"/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845" y="71120"/>
            <a:ext cx="3667125" cy="826770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69925" y="164465"/>
            <a:ext cx="3959860" cy="640715"/>
          </a:xfr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</p:spPr>
        <p:txBody>
          <a:bodyPr/>
          <a:p>
            <a:pPr algn="ctr">
              <a:lnSpc>
                <a:spcPct val="120000"/>
              </a:lnSpc>
            </a:pPr>
            <a:r>
              <a:rPr lang="zh-CN" altLang="en-US" sz="3200">
                <a:solidFill>
                  <a:schemeClr val="bg1"/>
                </a:solidFill>
              </a:rPr>
              <a:t>基础词汇——</a:t>
            </a:r>
            <a:r>
              <a:rPr lang="en-US" altLang="zh-CN" sz="3200">
                <a:solidFill>
                  <a:schemeClr val="bg1"/>
                </a:solidFill>
              </a:rPr>
              <a:t>38</a:t>
            </a:r>
            <a:r>
              <a:rPr sz="3200">
                <a:solidFill>
                  <a:schemeClr val="bg1"/>
                </a:solidFill>
              </a:rPr>
              <a:t>个</a:t>
            </a:r>
            <a:endParaRPr sz="3200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12520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spend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25030" y="1124585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花费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  <a:p>
            <a:pPr algn="ctr">
              <a:lnSpc>
                <a:spcPct val="80000"/>
              </a:lnSpc>
            </a:pP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（时间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/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金钱）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77545" y="2628900"/>
            <a:ext cx="6968490" cy="29444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Who do you </a:t>
            </a:r>
            <a:r>
              <a:rPr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spend</a:t>
            </a:r>
            <a:r>
              <a:rPr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your free time with?</a:t>
            </a:r>
            <a:endParaRPr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The exhibitions are all worth visiting. But don't </a:t>
            </a:r>
            <a:r>
              <a:rPr lang="en-US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spend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money on tickets now.</a:t>
            </a: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3445" y="4537075"/>
            <a:ext cx="8575040" cy="18992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Q: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How _________ do you spend?  </a:t>
            </a: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A: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An hour.</a:t>
            </a:r>
            <a:endParaRPr 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Q: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How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_________ 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do you spend?  </a:t>
            </a: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A: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20 pounds.</a:t>
            </a:r>
            <a:endParaRPr 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91657" y="1026926"/>
            <a:ext cx="2523129" cy="41282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pay</a:t>
            </a:r>
            <a:endParaRPr lang="en-US" altLang="zh-CN" sz="44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736452" y="1026926"/>
            <a:ext cx="2523129" cy="41282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</a:t>
            </a:r>
            <a:r>
              <a:rPr lang="zh-CN" altLang="en-US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支付</a:t>
            </a:r>
            <a:endParaRPr lang="zh-CN" altLang="en-US" sz="44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650" y="2578100"/>
            <a:ext cx="2636520" cy="156210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828675" y="4200525"/>
            <a:ext cx="6482080" cy="18503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sz="26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You should </a:t>
            </a:r>
            <a:r>
              <a:rPr lang="en-US" sz="2600" b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Arial Bold" panose="020B0604020202020204" charset="0"/>
                <a:cs typeface="Arial Bold" panose="020B0604020202020204" charset="0"/>
                <a:sym typeface="+mn-ea"/>
              </a:rPr>
              <a:t>pay for </a:t>
            </a:r>
            <a:r>
              <a:rPr lang="en-US" sz="26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cinema parking </a:t>
            </a:r>
            <a:endParaRPr lang="en-US" sz="26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sz="26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    in the shopping centre. ❌</a:t>
            </a:r>
            <a:endParaRPr lang="en-US" sz="26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sz="26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C</a:t>
            </a:r>
            <a:r>
              <a:rPr lang="en-US" sz="26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. </a:t>
            </a:r>
            <a:r>
              <a:rPr lang="en-US" sz="26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Cinema visitors should use a </a:t>
            </a:r>
            <a:endParaRPr lang="en-US" sz="26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sz="26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    different car park. </a:t>
            </a:r>
            <a:r>
              <a:rPr lang="zh-CN" altLang="en-US" sz="26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✅</a:t>
            </a:r>
            <a:endParaRPr lang="zh-CN" altLang="en-US" sz="26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91657" y="1026926"/>
            <a:ext cx="2523129" cy="41282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bill</a:t>
            </a:r>
            <a:endParaRPr lang="en-US" altLang="zh-CN" sz="44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736452" y="1026926"/>
            <a:ext cx="2523129" cy="41282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n.</a:t>
            </a:r>
            <a:r>
              <a:rPr lang="zh-CN" altLang="en-US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账单</a:t>
            </a:r>
            <a:endParaRPr lang="zh-CN" altLang="en-US" sz="44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03275" y="2720340"/>
            <a:ext cx="640715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sz="2800">
                <a:latin typeface="Arial" panose="020B0604020202020204" pitchFamily="34" charset="0"/>
                <a:cs typeface="宋体" charset="0"/>
              </a:rPr>
              <a:t>One day I may have to do a few hours a week teaching just to </a:t>
            </a:r>
            <a:r>
              <a:rPr lang="en-US" sz="2800">
                <a:highlight>
                  <a:srgbClr val="FFFF00"/>
                </a:highlight>
                <a:latin typeface="Arial" panose="020B0604020202020204" pitchFamily="34" charset="0"/>
                <a:cs typeface="宋体" charset="0"/>
              </a:rPr>
              <a:t>pay the bills</a:t>
            </a:r>
            <a:r>
              <a:rPr lang="en-US" sz="2800">
                <a:latin typeface="Arial" panose="020B0604020202020204" pitchFamily="34" charset="0"/>
                <a:cs typeface="宋体" charset="0"/>
              </a:rPr>
              <a:t>.</a:t>
            </a:r>
            <a:endParaRPr lang="en-US" sz="2800">
              <a:latin typeface="Arial" panose="020B0604020202020204" pitchFamily="34" charset="0"/>
              <a:cs typeface="宋体" charset="0"/>
            </a:endParaRPr>
          </a:p>
          <a:p>
            <a:pPr marL="0" indent="0" algn="l"/>
            <a:endParaRPr lang="en-US" altLang="en-US" sz="2800">
              <a:latin typeface="Arial" panose="020B0604020202020204" pitchFamily="34" charset="0"/>
              <a:cs typeface="宋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3275" y="4007485"/>
            <a:ext cx="6569710" cy="22072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indent="0" algn="l"/>
            <a:r>
              <a:rPr lang="en-US" sz="275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Question: What can be called a bill?</a:t>
            </a:r>
            <a:endParaRPr lang="en-US" sz="275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endParaRPr lang="en-US" altLang="en-US" sz="27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l"/>
            <a:r>
              <a:rPr lang="en-US" altLang="en-US" sz="27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</a:t>
            </a:r>
            <a:r>
              <a:rPr lang="en-US" altLang="en-US" sz="27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The money you</a:t>
            </a:r>
            <a:r>
              <a:rPr lang="en-US" altLang="en-US" sz="27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spend </a:t>
            </a:r>
            <a:r>
              <a:rPr lang="en-US" altLang="en-US" sz="27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on electricity</a:t>
            </a:r>
            <a:endParaRPr lang="en-US" altLang="en-US" sz="27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l"/>
            <a:r>
              <a:rPr lang="en-US" altLang="en-US" sz="27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B. The money you get from parents</a:t>
            </a:r>
            <a:endParaRPr lang="en-US" altLang="en-US" sz="27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algn="ctr"/>
            <a:endParaRPr lang="en-US" altLang="en-US" sz="2750" b="1" dirty="0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91657" y="1026926"/>
            <a:ext cx="2523129" cy="41282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b</a:t>
            </a:r>
            <a:r>
              <a:rPr lang="en-US" altLang="zh-CN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elong</a:t>
            </a:r>
            <a:endParaRPr lang="en-US" altLang="zh-CN" sz="44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736452" y="1026926"/>
            <a:ext cx="2523129" cy="41282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</a:t>
            </a:r>
            <a:r>
              <a:rPr lang="zh-CN" altLang="en-US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属于</a:t>
            </a:r>
            <a:endParaRPr lang="zh-CN" altLang="en-US" sz="44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03275" y="2720340"/>
            <a:ext cx="640715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sz="2800">
                <a:latin typeface="Arial" panose="020B0604020202020204" pitchFamily="34" charset="0"/>
                <a:cs typeface="宋体" charset="0"/>
              </a:rPr>
              <a:t>The bakery </a:t>
            </a:r>
            <a:r>
              <a:rPr lang="en-US" sz="2800">
                <a:highlight>
                  <a:srgbClr val="FFFF00"/>
                </a:highlight>
                <a:latin typeface="Arial" panose="020B0604020202020204" pitchFamily="34" charset="0"/>
                <a:cs typeface="宋体" charset="0"/>
              </a:rPr>
              <a:t>belong to</a:t>
            </a:r>
            <a:r>
              <a:rPr lang="en-US" sz="2800">
                <a:latin typeface="Arial" panose="020B0604020202020204" pitchFamily="34" charset="0"/>
                <a:cs typeface="宋体" charset="0"/>
              </a:rPr>
              <a:t> Aslam,who says that he sells 4,000 biscuits every day and 7,000 cups of tea. </a:t>
            </a:r>
            <a:endParaRPr lang="zh-CN" altLang="en-US" sz="2800">
              <a:latin typeface="Arial" panose="020B0604020202020204" pitchFamily="34" charset="0"/>
              <a:cs typeface="宋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3275" y="4227195"/>
            <a:ext cx="6052820" cy="22453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l">
              <a:buClrTx/>
              <a:buSzTx/>
              <a:buFontTx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Question: </a:t>
            </a: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‘</a:t>
            </a: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belong to’ means           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Someone has something.</a:t>
            </a:r>
            <a:endParaRPr 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B. 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Someone buys something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.</a:t>
            </a:r>
            <a:endParaRPr 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91657" y="1026926"/>
            <a:ext cx="2523129" cy="41282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put</a:t>
            </a:r>
            <a:endParaRPr lang="en-US" altLang="zh-CN" sz="44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27875" y="1069975"/>
            <a:ext cx="304863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</a:t>
            </a:r>
            <a:r>
              <a:rPr lang="zh-CN" altLang="en-US" sz="40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放置</a:t>
            </a:r>
            <a:endParaRPr lang="zh-CN" altLang="en-US" sz="40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40480" y="2360295"/>
            <a:ext cx="7512685" cy="13087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10000"/>
              </a:lnSpc>
            </a:pPr>
            <a:r>
              <a:rPr lang="en-US" sz="2400" b="1">
                <a:solidFill>
                  <a:srgbClr val="00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2. You will hear Gregory talking to Angelika about some things he has bought for his new house. </a:t>
            </a:r>
            <a:endParaRPr lang="en-US" sz="2400" b="1">
              <a:solidFill>
                <a:srgbClr val="000000"/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>
              <a:lnSpc>
                <a:spcPct val="110000"/>
              </a:lnSpc>
            </a:pPr>
            <a:r>
              <a:rPr lang="en-US" sz="2400" b="1">
                <a:solidFill>
                  <a:srgbClr val="00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What is he going to </a:t>
            </a:r>
            <a:r>
              <a:rPr lang="en-US" sz="2400" b="1">
                <a:solidFill>
                  <a:srgbClr val="000000"/>
                </a:solidFill>
                <a:highlight>
                  <a:srgbClr val="FFFF00"/>
                </a:highlight>
                <a:latin typeface="Arial Bold" panose="020B0604020202020204" charset="0"/>
                <a:cs typeface="Arial Bold" panose="020B0604020202020204" charset="0"/>
                <a:sym typeface="+mn-ea"/>
              </a:rPr>
              <a:t>put</a:t>
            </a:r>
            <a:r>
              <a:rPr lang="en-US" sz="2400" b="1">
                <a:solidFill>
                  <a:srgbClr val="00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in each place?</a:t>
            </a:r>
            <a:endParaRPr lang="zh-CN" altLang="en-US" sz="2400" b="1">
              <a:solidFill>
                <a:srgbClr val="000000"/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829560"/>
            <a:ext cx="2616200" cy="234950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2614930" y="3886200"/>
            <a:ext cx="431800" cy="280035"/>
          </a:xfrm>
          <a:prstGeom prst="roundRect">
            <a:avLst/>
          </a:pr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57898" y="2360295"/>
            <a:ext cx="5784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800" b="1">
                <a:solidFill>
                  <a:schemeClr val="tx1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1. </a:t>
            </a:r>
            <a:endParaRPr lang="en-US" altLang="zh-CN" sz="2800" b="1" dirty="0">
              <a:solidFill>
                <a:schemeClr val="tx1"/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40480" y="4468495"/>
            <a:ext cx="734822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algn="l">
              <a:buClrTx/>
              <a:buSzTx/>
              <a:buNone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Question: 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Why don't you make a poster and ask Mrs.Taylor to put it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 ___ </a:t>
            </a: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in the sports hall?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91657" y="1063121"/>
            <a:ext cx="2523129" cy="41282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tidy</a:t>
            </a:r>
            <a:endParaRPr lang="en-US" altLang="zh-CN" sz="44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10425" y="1062990"/>
            <a:ext cx="304863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</a:pPr>
            <a:r>
              <a:rPr lang="en-US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</a:t>
            </a:r>
            <a:r>
              <a:rPr lang="en-US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收拾整理</a:t>
            </a:r>
            <a:endParaRPr lang="en-US" sz="44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68400" y="5241925"/>
            <a:ext cx="60420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ClrTx/>
              <a:buSzTx/>
              <a:buFontTx/>
            </a:pP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C. to 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Arial Bold" panose="020B0604020202020204" charset="0"/>
                <a:cs typeface="Arial Bold" panose="020B0604020202020204" charset="0"/>
                <a:sym typeface="+mn-ea"/>
              </a:rPr>
              <a:t>tidy up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the living room.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</a:t>
            </a:r>
            <a:r>
              <a:rPr lang="zh-CN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✅</a:t>
            </a:r>
            <a:endParaRPr lang="zh-CN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63290" y="3248025"/>
            <a:ext cx="412178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sz="3200" b="1">
                <a:solidFill>
                  <a:srgbClr val="000000"/>
                </a:solidFill>
                <a:latin typeface="Arial Bold" panose="020B0604020202020204" charset="0"/>
                <a:cs typeface="Arial Bold" panose="020B0604020202020204" charset="0"/>
              </a:rPr>
              <a:t>Chloe wants Susie</a:t>
            </a:r>
            <a:endParaRPr lang="en-US" sz="3200" b="1">
              <a:solidFill>
                <a:srgbClr val="000000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05" y="2789555"/>
            <a:ext cx="2616200" cy="2349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79592" y="1075055"/>
            <a:ext cx="2523129" cy="41282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clean</a:t>
            </a:r>
            <a:endParaRPr lang="en-US" altLang="zh-CN" sz="44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48195" y="1075055"/>
            <a:ext cx="312293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</a:t>
            </a:r>
            <a:r>
              <a:rPr lang="zh-CN" altLang="en-US" sz="28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清洗；使…</a:t>
            </a:r>
            <a:r>
              <a:rPr lang="zh-CN" altLang="en-US" sz="28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干净</a:t>
            </a:r>
            <a:endParaRPr lang="zh-CN" altLang="en-US" sz="28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03275" y="2720340"/>
            <a:ext cx="640715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altLang="zh-CN" sz="2800">
                <a:latin typeface="Arial" panose="020B0604020202020204" pitchFamily="34" charset="0"/>
                <a:cs typeface="宋体" charset="0"/>
              </a:rPr>
              <a:t>It was really exciting to see what the people at the museum were able to do to </a:t>
            </a:r>
            <a:r>
              <a:rPr lang="en-US" altLang="zh-CN" sz="2800">
                <a:highlight>
                  <a:srgbClr val="FFFF00"/>
                </a:highlight>
                <a:latin typeface="Arial" panose="020B0604020202020204" pitchFamily="34" charset="0"/>
                <a:cs typeface="宋体" charset="0"/>
              </a:rPr>
              <a:t>clean</a:t>
            </a:r>
            <a:r>
              <a:rPr lang="en-US" altLang="zh-CN" sz="2800">
                <a:latin typeface="Arial" panose="020B0604020202020204" pitchFamily="34" charset="0"/>
                <a:cs typeface="宋体" charset="0"/>
              </a:rPr>
              <a:t> the pieces of silver.</a:t>
            </a:r>
            <a:endParaRPr lang="en-US" altLang="zh-CN" sz="2800">
              <a:latin typeface="Arial" panose="020B0604020202020204" pitchFamily="34" charset="0"/>
              <a:cs typeface="宋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3275" y="4175760"/>
            <a:ext cx="6112510" cy="22453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indent="0" algn="l"/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Question: ‘clean’ here means         .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endParaRPr lang="en-US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l"/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wash the </a:t>
            </a: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pieces of silver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l"/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B. not dirty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algn="ctr"/>
            <a:endParaRPr lang="en-US" altLang="en-US" sz="2800" b="1" dirty="0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79592" y="1159641"/>
            <a:ext cx="2523129" cy="41282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shower</a:t>
            </a:r>
            <a:endParaRPr lang="en-US" altLang="zh-CN" sz="44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  <a:p>
            <a:pPr algn="ctr">
              <a:lnSpc>
                <a:spcPct val="80000"/>
              </a:lnSpc>
            </a:pPr>
            <a:r>
              <a:rPr lang="en-US" altLang="zh-CN" sz="44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bath</a:t>
            </a:r>
            <a:endParaRPr lang="en-US" altLang="zh-CN" sz="44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48195" y="1135380"/>
            <a:ext cx="312293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n.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淋浴（间）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  <a:p>
            <a:pPr algn="ctr"/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n.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浴缸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03275" y="2720340"/>
            <a:ext cx="640715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altLang="zh-CN" sz="2800">
                <a:latin typeface="Arial" panose="020B0604020202020204" pitchFamily="34" charset="0"/>
                <a:cs typeface="宋体" charset="0"/>
              </a:rPr>
              <a:t>Campsites usually have </a:t>
            </a:r>
            <a:r>
              <a:rPr lang="en-US" altLang="zh-CN" sz="2800">
                <a:highlight>
                  <a:srgbClr val="FFFF00"/>
                </a:highlight>
                <a:latin typeface="Arial" panose="020B0604020202020204" pitchFamily="34" charset="0"/>
                <a:cs typeface="宋体" charset="0"/>
              </a:rPr>
              <a:t>showers</a:t>
            </a:r>
            <a:r>
              <a:rPr lang="en-US" altLang="zh-CN" sz="2800">
                <a:latin typeface="Arial" panose="020B0604020202020204" pitchFamily="34" charset="0"/>
                <a:cs typeface="宋体" charset="0"/>
              </a:rPr>
              <a:t>,</a:t>
            </a:r>
            <a:endParaRPr lang="en-US" altLang="zh-CN" sz="2800">
              <a:latin typeface="Arial" panose="020B0604020202020204" pitchFamily="34" charset="0"/>
              <a:cs typeface="宋体" charset="0"/>
            </a:endParaRPr>
          </a:p>
          <a:p>
            <a:pPr marL="0" indent="0" algn="l"/>
            <a:r>
              <a:rPr lang="en-US" altLang="zh-CN" sz="2800">
                <a:latin typeface="Arial" panose="020B0604020202020204" pitchFamily="34" charset="0"/>
                <a:cs typeface="宋体" charset="0"/>
              </a:rPr>
              <a:t>but when we got there, we found that this one had a real </a:t>
            </a:r>
            <a:r>
              <a:rPr lang="en-US" altLang="zh-CN" sz="2800">
                <a:highlight>
                  <a:srgbClr val="FFFF00"/>
                </a:highlight>
                <a:latin typeface="Arial" panose="020B0604020202020204" pitchFamily="34" charset="0"/>
                <a:cs typeface="宋体" charset="0"/>
              </a:rPr>
              <a:t>bath</a:t>
            </a:r>
            <a:r>
              <a:rPr lang="en-US" sz="28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.</a:t>
            </a:r>
            <a:endParaRPr lang="en-US" altLang="zh-CN" sz="280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cs typeface="宋体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3275" y="4175760"/>
            <a:ext cx="5614670" cy="22453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indent="0" algn="l"/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Question: Which one has a tub?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endParaRPr lang="en-US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l"/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shower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l"/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B. bath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algn="ctr"/>
            <a:endParaRPr lang="en-US" altLang="en-US" sz="2800" b="1" dirty="0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50745" y="1090930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3600">
                <a:solidFill>
                  <a:schemeClr val="tx1"/>
                </a:solidFill>
                <a:sym typeface="+mn-lt"/>
              </a:rPr>
              <a:t>wash up</a:t>
            </a:r>
            <a:endParaRPr lang="en-US" altLang="zh-CN" sz="3600">
              <a:solidFill>
                <a:schemeClr val="tx1"/>
              </a:solidFill>
              <a:sym typeface="+mn-lt"/>
            </a:endParaRPr>
          </a:p>
          <a:p>
            <a:pPr algn="ctr">
              <a:lnSpc>
                <a:spcPct val="80000"/>
              </a:lnSpc>
            </a:pPr>
            <a:r>
              <a:rPr lang="en-US" altLang="zh-CN" sz="3600">
                <a:solidFill>
                  <a:schemeClr val="tx1"/>
                </a:solidFill>
                <a:sym typeface="+mn-lt"/>
              </a:rPr>
              <a:t>washing-up</a:t>
            </a:r>
            <a:endParaRPr lang="en-US" altLang="zh-CN" sz="36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48195" y="1090930"/>
            <a:ext cx="312293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phra.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清洗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  <a:p>
            <a:pPr algn="ctr"/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n.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洗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餐具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03275" y="2720340"/>
            <a:ext cx="6407150" cy="18148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>
                <a:latin typeface="Arial" panose="020B0604020202020204" pitchFamily="34" charset="0"/>
                <a:cs typeface="宋体" charset="0"/>
              </a:rPr>
              <a:t>... please </a:t>
            </a:r>
            <a:r>
              <a:rPr lang="en-US" altLang="zh-CN" sz="2800">
                <a:highlight>
                  <a:srgbClr val="FFFF00"/>
                </a:highlight>
                <a:latin typeface="Arial" panose="020B0604020202020204" pitchFamily="34" charset="0"/>
                <a:cs typeface="宋体" charset="0"/>
              </a:rPr>
              <a:t>wash up</a:t>
            </a:r>
            <a:r>
              <a:rPr lang="en-US" altLang="zh-CN" sz="2800">
                <a:latin typeface="Arial" panose="020B0604020202020204" pitchFamily="34" charset="0"/>
                <a:cs typeface="宋体" charset="0"/>
              </a:rPr>
              <a:t> and put things away after you've used the kitchen.</a:t>
            </a:r>
            <a:endParaRPr lang="en-US" altLang="zh-CN" sz="2800">
              <a:latin typeface="Arial" panose="020B0604020202020204" pitchFamily="34" charset="0"/>
              <a:cs typeface="宋体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>
                <a:latin typeface="Arial" panose="020B0604020202020204" pitchFamily="34" charset="0"/>
                <a:cs typeface="宋体" charset="0"/>
              </a:rPr>
              <a:t>I think I left it by the sink when l finished the </a:t>
            </a:r>
            <a:r>
              <a:rPr lang="en-US" altLang="zh-CN" sz="2800">
                <a:highlight>
                  <a:srgbClr val="FFFF00"/>
                </a:highlight>
                <a:latin typeface="Arial" panose="020B0604020202020204" pitchFamily="34" charset="0"/>
                <a:cs typeface="宋体" charset="0"/>
              </a:rPr>
              <a:t>washing-up</a:t>
            </a:r>
            <a:r>
              <a:rPr lang="en-US" altLang="zh-CN" sz="2800">
                <a:latin typeface="Arial" panose="020B0604020202020204" pitchFamily="34" charset="0"/>
                <a:cs typeface="宋体" charset="0"/>
              </a:rPr>
              <a:t>.</a:t>
            </a:r>
            <a:endParaRPr lang="zh-CN" altLang="en-US" sz="2800">
              <a:latin typeface="Arial" panose="020B0604020202020204" pitchFamily="34" charset="0"/>
              <a:cs typeface="宋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7565" y="4655820"/>
            <a:ext cx="6310630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/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Question: I can help with the            .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/>
            <a:endParaRPr lang="en-US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/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washing-up            B. wash up</a:t>
            </a:r>
            <a:endParaRPr lang="zh-CN" altLang="en-US" sz="2800" b="1" u="sng" dirty="0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50745" y="1111250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400">
                <a:solidFill>
                  <a:schemeClr val="tx1"/>
                </a:solidFill>
                <a:sym typeface="+mn-lt"/>
              </a:rPr>
              <a:t>enough</a:t>
            </a:r>
            <a:endParaRPr lang="en-US" altLang="zh-CN" sz="44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48195" y="1111250"/>
            <a:ext cx="312293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adj.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充足的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  <a:p>
            <a:pPr algn="ctr"/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adv.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足够地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03275" y="2590165"/>
            <a:ext cx="6407150" cy="21888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lt's not very big, there isn't </a:t>
            </a:r>
            <a:r>
              <a:rPr lang="en-US" sz="240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enough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space for a cupboard. (</a:t>
            </a:r>
            <a:r>
              <a:rPr lang="en-US" sz="240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enough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+</a:t>
            </a: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名词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.)</a:t>
            </a:r>
            <a:endParaRPr lang="zh-CN" altLang="en-US" sz="2400"/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Arial" panose="020B0604020202020204" pitchFamily="34" charset="0"/>
                <a:cs typeface="宋体" charset="0"/>
              </a:rPr>
              <a:t>Q</a:t>
            </a:r>
            <a:r>
              <a:rPr lang="zh-CN" altLang="en-US" sz="2400">
                <a:latin typeface="Arial" panose="020B0604020202020204" pitchFamily="34" charset="0"/>
                <a:cs typeface="宋体" charset="0"/>
              </a:rPr>
              <a:t>：</a:t>
            </a:r>
            <a:r>
              <a:rPr lang="en-US" altLang="zh-CN" sz="2400">
                <a:latin typeface="Arial" panose="020B0604020202020204" pitchFamily="34" charset="0"/>
                <a:cs typeface="宋体" charset="0"/>
              </a:rPr>
              <a:t>Where will we have the picnic? </a:t>
            </a:r>
            <a:endParaRPr lang="en-US" altLang="zh-CN" sz="2400">
              <a:latin typeface="Arial" panose="020B0604020202020204" pitchFamily="34" charset="0"/>
              <a:cs typeface="宋体" charset="0"/>
            </a:endParaRPr>
          </a:p>
          <a:p>
            <a:pPr indent="0">
              <a:lnSpc>
                <a:spcPct val="110000"/>
              </a:lnSpc>
              <a:buNone/>
            </a:pPr>
            <a:r>
              <a:rPr lang="en-US" altLang="zh-CN" sz="2400">
                <a:latin typeface="Arial" panose="020B0604020202020204" pitchFamily="34" charset="0"/>
                <a:cs typeface="宋体" charset="0"/>
              </a:rPr>
              <a:t>  </a:t>
            </a:r>
            <a:r>
              <a:rPr lang="en-US" altLang="zh-CN" sz="2800">
                <a:latin typeface="Arial" panose="020B0604020202020204" pitchFamily="34" charset="0"/>
                <a:cs typeface="宋体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cs typeface="宋体" charset="0"/>
              </a:rPr>
              <a:t> </a:t>
            </a:r>
            <a:r>
              <a:rPr lang="en-US" altLang="zh-CN" sz="2000">
                <a:latin typeface="Arial" panose="020B0604020202020204" pitchFamily="34" charset="0"/>
                <a:cs typeface="宋体" charset="0"/>
              </a:rPr>
              <a:t>  </a:t>
            </a:r>
            <a:r>
              <a:rPr lang="en-US" altLang="zh-CN" sz="2400">
                <a:latin typeface="Arial" panose="020B0604020202020204" pitchFamily="34" charset="0"/>
                <a:cs typeface="宋体" charset="0"/>
              </a:rPr>
              <a:t>A</a:t>
            </a:r>
            <a:r>
              <a:rPr lang="zh-CN" altLang="en-US" sz="2400">
                <a:latin typeface="Arial" panose="020B0604020202020204" pitchFamily="34" charset="0"/>
                <a:cs typeface="宋体" charset="0"/>
              </a:rPr>
              <a:t>：</a:t>
            </a:r>
            <a:r>
              <a:rPr lang="en-US" altLang="zh-CN" sz="2400">
                <a:latin typeface="Arial" panose="020B0604020202020204" pitchFamily="34" charset="0"/>
                <a:cs typeface="宋体" charset="0"/>
              </a:rPr>
              <a:t>At the local park--my yard isn't large</a:t>
            </a:r>
            <a:endParaRPr lang="en-US" altLang="zh-CN" sz="2400">
              <a:latin typeface="Arial" panose="020B0604020202020204" pitchFamily="34" charset="0"/>
              <a:cs typeface="宋体" charset="0"/>
            </a:endParaRPr>
          </a:p>
          <a:p>
            <a:pPr indent="0">
              <a:lnSpc>
                <a:spcPct val="110000"/>
              </a:lnSpc>
              <a:buNone/>
            </a:pPr>
            <a:r>
              <a:rPr lang="en-US" altLang="zh-CN" sz="2400">
                <a:latin typeface="Arial" panose="020B0604020202020204" pitchFamily="34" charset="0"/>
                <a:cs typeface="宋体" charset="0"/>
              </a:rPr>
              <a:t>            </a:t>
            </a:r>
            <a:r>
              <a:rPr lang="en-US" altLang="zh-CN" sz="2400">
                <a:highlight>
                  <a:srgbClr val="FFFF00"/>
                </a:highlight>
                <a:latin typeface="Arial" panose="020B0604020202020204" pitchFamily="34" charset="0"/>
                <a:cs typeface="宋体" charset="0"/>
              </a:rPr>
              <a:t>enough</a:t>
            </a:r>
            <a:r>
              <a:rPr lang="en-US" altLang="zh-CN" sz="2400">
                <a:latin typeface="Arial" panose="020B0604020202020204" pitchFamily="34" charset="0"/>
                <a:cs typeface="宋体" charset="0"/>
              </a:rPr>
              <a:t>. (</a:t>
            </a:r>
            <a:r>
              <a:rPr lang="zh-CN" altLang="en-US" sz="2400">
                <a:latin typeface="Arial" panose="020B0604020202020204" pitchFamily="34" charset="0"/>
                <a:cs typeface="宋体" charset="0"/>
              </a:rPr>
              <a:t>形容词</a:t>
            </a:r>
            <a:r>
              <a:rPr lang="en-US" altLang="zh-CN" sz="2400">
                <a:latin typeface="Arial" panose="020B0604020202020204" pitchFamily="34" charset="0"/>
                <a:cs typeface="宋体" charset="0"/>
              </a:rPr>
              <a:t>.+</a:t>
            </a:r>
            <a:r>
              <a:rPr lang="en-US" sz="240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enough)</a:t>
            </a:r>
            <a:endParaRPr lang="en-US" altLang="en-US" sz="240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cs typeface="宋体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8050" y="4839335"/>
            <a:ext cx="586740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/>
            <a:r>
              <a:rPr lang="en-US" sz="26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Question: The weather is                 .</a:t>
            </a:r>
            <a:endParaRPr lang="en-US" sz="26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/>
            <a:endParaRPr lang="en-US" altLang="en-US" sz="14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/>
            <a:r>
              <a:rPr lang="en-US" altLang="en-US" sz="26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warm enough      B. enough warm</a:t>
            </a:r>
            <a:endParaRPr lang="en-US" altLang="en-US" sz="26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02679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400">
                <a:solidFill>
                  <a:schemeClr val="tx1"/>
                </a:solidFill>
                <a:sym typeface="+mn-lt"/>
              </a:rPr>
              <a:t>extra</a:t>
            </a:r>
            <a:endParaRPr lang="en-US" altLang="zh-CN" sz="44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60260" y="1026795"/>
            <a:ext cx="312293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adj.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额外的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52805" y="2734945"/>
            <a:ext cx="6407150" cy="5651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10000"/>
              </a:lnSpc>
              <a:buNone/>
            </a:pP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We've got an </a:t>
            </a:r>
            <a:r>
              <a:rPr sz="280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extra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set of keys at home.</a:t>
            </a:r>
            <a:endParaRPr sz="28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2438" b="7730"/>
          <a:stretch>
            <a:fillRect/>
          </a:stretch>
        </p:blipFill>
        <p:spPr>
          <a:xfrm>
            <a:off x="778510" y="3362960"/>
            <a:ext cx="2032635" cy="23799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49880" y="3761105"/>
            <a:ext cx="4540885" cy="205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What is Suzy doing?</a:t>
            </a:r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A. asking Henry if she can bring an </a:t>
            </a:r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Arial Bold" panose="020B0604020202020204" charset="0"/>
                <a:cs typeface="Arial Bold" panose="020B0604020202020204" charset="0"/>
              </a:rPr>
              <a:t>extra</a:t>
            </a:r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 person to the restaurant tonight.   </a:t>
            </a:r>
            <a:r>
              <a:rPr lang="zh-CN" altLang="en-US" sz="2550" b="1">
                <a:solidFill>
                  <a:srgbClr val="000000"/>
                </a:solidFill>
                <a:latin typeface="Arial Bold" panose="020B0604020202020204" charset="0"/>
                <a:cs typeface="Arial Bold" panose="020B0604020202020204" charset="0"/>
              </a:rPr>
              <a:t>✅</a:t>
            </a:r>
            <a:endParaRPr lang="zh-CN" altLang="en-US" sz="2550" b="1">
              <a:solidFill>
                <a:srgbClr val="000000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2458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dressed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60260" y="1099185"/>
            <a:ext cx="312293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adj.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穿着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衣服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68045" y="2787650"/>
            <a:ext cx="6637655" cy="15125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10000"/>
              </a:lnSpc>
              <a:buNone/>
            </a:pP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Before the show starts,we </a:t>
            </a:r>
            <a:r>
              <a:rPr sz="280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get dressed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,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put our skates on,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and wish each other good luck.</a:t>
            </a:r>
            <a:endParaRPr sz="28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8045" y="4525010"/>
            <a:ext cx="6407150" cy="1268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Which means ‘get </a:t>
            </a:r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dressed’? </a:t>
            </a:r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A. </a:t>
            </a:r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dress up      B. put on </a:t>
            </a:r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clothes</a:t>
            </a:r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2458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open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closed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60260" y="1149985"/>
            <a:ext cx="312293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adj.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营业的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  <a:p>
            <a:pPr algn="ctr">
              <a:lnSpc>
                <a:spcPct val="80000"/>
              </a:lnSpc>
            </a:pPr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adj.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不开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放的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l="1501" t="2970" r="59345" b="10272"/>
          <a:stretch>
            <a:fillRect/>
          </a:stretch>
        </p:blipFill>
        <p:spPr>
          <a:xfrm>
            <a:off x="2162810" y="2591435"/>
            <a:ext cx="3454400" cy="20453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31240" y="4624705"/>
            <a:ext cx="10129520" cy="13836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>
            <a:spAutoFit/>
          </a:bodyPr>
          <a:p>
            <a:pPr marL="221615" indent="-221615" algn="l"/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A. People who have swimming classes can go on Tuesday.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221615" indent="-221615" algn="l"/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B. The pool will be closed to all customers after Tuesday.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221615" indent="-221615" algn="l"/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C. Swimming lessons will be in a new pool on Tuesday.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358005" y="2957195"/>
            <a:ext cx="762000" cy="292100"/>
          </a:xfrm>
          <a:prstGeom prst="roundRect">
            <a:avLst/>
          </a:pr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679700" y="3670300"/>
            <a:ext cx="762000" cy="292100"/>
          </a:xfrm>
          <a:prstGeom prst="roundRect">
            <a:avLst/>
          </a:pr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2458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various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60260" y="1099185"/>
            <a:ext cx="312293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1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adj.</a:t>
            </a:r>
            <a:r>
              <a:rPr lang="en-US" altLang="zh-CN" sz="31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1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不同的；各种各样的</a:t>
            </a:r>
            <a:endParaRPr lang="zh-CN" altLang="en-US" sz="31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68045" y="2787650"/>
            <a:ext cx="6637655" cy="10388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10000"/>
              </a:lnSpc>
              <a:buNone/>
            </a:pP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The adventures he plans include races across </a:t>
            </a:r>
            <a:r>
              <a:rPr sz="280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various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countries.</a:t>
            </a:r>
            <a:endParaRPr sz="28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57580" y="3951605"/>
            <a:ext cx="6407150" cy="205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Lily buys various clothes, which are possibly ________. </a:t>
            </a:r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A. many </a:t>
            </a:r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dresses   </a:t>
            </a:r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B. dresses, shirts and trousers</a:t>
            </a:r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12520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variety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60260" y="1087120"/>
            <a:ext cx="312293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n.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多样性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30580" y="2887345"/>
            <a:ext cx="6637655" cy="10388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10000"/>
              </a:lnSpc>
              <a:buNone/>
            </a:pP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The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shop in the next village has a good </a:t>
            </a:r>
            <a:r>
              <a:rPr sz="280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variety of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food.</a:t>
            </a:r>
            <a:endParaRPr sz="28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3110" y="4525010"/>
            <a:ext cx="6407150" cy="875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There are ______ of plants in the forest.</a:t>
            </a:r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12520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sale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10095" y="1087120"/>
            <a:ext cx="32111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n.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售卖；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销售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76910" y="2672715"/>
            <a:ext cx="6637655" cy="10388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endParaRPr sz="28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sz="28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65245" y="2806700"/>
            <a:ext cx="6407150" cy="875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What does the advert say?</a:t>
            </a:r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10" y="2648585"/>
            <a:ext cx="2729865" cy="21215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68400" y="4770120"/>
            <a:ext cx="8152765" cy="12680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marL="0" algn="l">
              <a:buClrTx/>
              <a:buSzTx/>
              <a:buNone/>
            </a:pPr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The bike has a few things wrong with it.</a:t>
            </a:r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algn="l">
              <a:buClrTx/>
              <a:buSzTx/>
              <a:buNone/>
            </a:pPr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B. Call Kevin to find out how much the bike costs.</a:t>
            </a:r>
            <a:endParaRPr lang="en-US" alt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algn="l">
              <a:buClrTx/>
              <a:buSzTx/>
              <a:buNone/>
            </a:pPr>
            <a:r>
              <a:rPr lang="en-US" alt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C. You can use the bike in different kinds of places.</a:t>
            </a:r>
            <a:endParaRPr lang="en-US" altLang="zh-CN" sz="66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054860" y="2660650"/>
            <a:ext cx="800100" cy="413385"/>
          </a:xfrm>
          <a:prstGeom prst="roundRect">
            <a:avLst/>
          </a:pr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0045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live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60260" y="1075055"/>
            <a:ext cx="312293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居住；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活着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9610" y="2571750"/>
            <a:ext cx="7172325" cy="16414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Honey bees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lang="en-US" sz="280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live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in groups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.</a:t>
            </a:r>
            <a:endParaRPr sz="28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The queen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bee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sz="280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lives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for 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several 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years,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but the workers die after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a few weeks</a:t>
            </a:r>
            <a:r>
              <a:rPr sz="28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.</a:t>
            </a:r>
            <a:endParaRPr sz="28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5510" y="4213225"/>
            <a:ext cx="7172325" cy="18637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Question: Where do you live?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endParaRPr lang="en-US" altLang="en-US" sz="20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l"/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I live in Beijing. 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l"/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B. I live for 10 years.</a:t>
            </a:r>
            <a:endParaRPr sz="28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36650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upstairs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downstairs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339330" y="1111250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adv.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上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/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下楼；在楼上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/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下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8975" y="2847975"/>
            <a:ext cx="7172325" cy="6838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None/>
            </a:pPr>
            <a:r>
              <a:rPr sz="27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It's very heavy,</a:t>
            </a:r>
            <a:r>
              <a:rPr lang="en-US" sz="27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sz="27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so let's keep it </a:t>
            </a:r>
            <a:r>
              <a:rPr sz="27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downstairs</a:t>
            </a:r>
            <a:r>
              <a:rPr sz="27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.</a:t>
            </a:r>
            <a:endParaRPr sz="27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5510" y="3926205"/>
            <a:ext cx="7172325" cy="27254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I live           .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l"/>
            <a:endParaRPr lang="en-US" altLang="en-US" sz="20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l"/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upstairs        B. in downstairs.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l"/>
            <a:endParaRPr sz="28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marL="0" indent="0" algn="l"/>
            <a:endParaRPr lang="en-US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l"/>
            <a:endParaRPr sz="28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088390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prefer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339330" y="1088390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更喜欢；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宁愿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27710" y="2529205"/>
            <a:ext cx="6968490" cy="29444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D</a:t>
            </a:r>
            <a:r>
              <a:rPr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o you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lang="en-US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prefer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wearing a watch or </a:t>
            </a:r>
            <a:endParaRPr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    </a:t>
            </a:r>
            <a:r>
              <a:rPr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using your phone to tell the time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?</a:t>
            </a: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I</a:t>
            </a:r>
            <a:r>
              <a:rPr lang="en-US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'd prefer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to see some famous paintings.</a:t>
            </a: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07110" y="4250690"/>
            <a:ext cx="6080125" cy="18992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[In a restaurant]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Waiter: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______ </a:t>
            </a: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do you prefer? Coffee or tea?</a:t>
            </a:r>
            <a:endParaRPr sz="28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50745" y="1088390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cost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327265" y="1088390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花费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  <a:p>
            <a:pPr algn="ctr"/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n.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费用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9460" y="4525010"/>
            <a:ext cx="6579870" cy="12966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B. The 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Arial Bold" panose="020B0604020202020204" charset="0"/>
                <a:cs typeface="Arial Bold" panose="020B0604020202020204" charset="0"/>
                <a:sym typeface="+mn-ea"/>
              </a:rPr>
              <a:t>cost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of each song is £1.99 after you buy more than ten songs. </a:t>
            </a:r>
            <a:r>
              <a:rPr lang="zh-CN" alt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✅</a:t>
            </a:r>
            <a:endParaRPr lang="zh-CN" alt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1938020" y="2797810"/>
          <a:ext cx="3839845" cy="1478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9845"/>
              </a:tblGrid>
              <a:tr h="4876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宋体" charset="0"/>
                          <a:cs typeface="宋体" charset="0"/>
                        </a:rPr>
                        <a:t>24 hour sale!</a:t>
                      </a:r>
                      <a:endParaRPr lang="en-US" altLang="en-US" sz="3200" b="1">
                        <a:solidFill>
                          <a:srgbClr val="FFFFFF"/>
                        </a:solidFill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02020"/>
                    </a:solidFill>
                  </a:tcPr>
                </a:tc>
              </a:tr>
              <a:tr h="9912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charset="0"/>
                          <a:cs typeface="宋体" charset="0"/>
                        </a:rPr>
                        <a:t>Download any 10 songs for 99p</a:t>
                      </a:r>
                      <a:endParaRPr lang="en-US" sz="2400" b="1">
                        <a:solidFill>
                          <a:srgbClr val="000000"/>
                        </a:solidFill>
                        <a:latin typeface="宋体" charset="0"/>
                        <a:cs typeface="宋体" charset="0"/>
                      </a:endParaRPr>
                    </a:p>
                    <a:p>
                      <a:pPr indent="0" algn="ctr"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Then </a:t>
                      </a:r>
                      <a:r>
                        <a:rPr lang="en-US" sz="2400" b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1.99 per song as usual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064260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(re)charge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339330" y="1076325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给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…充电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6440" y="2534920"/>
            <a:ext cx="6612890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I </a:t>
            </a:r>
            <a:r>
              <a:rPr lang="en-US" sz="320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charged</a:t>
            </a:r>
            <a:r>
              <a:rPr lang="en-US" sz="32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the battery but it only stays on for a few minutes.</a:t>
            </a:r>
            <a:endParaRPr lang="en-US" sz="32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He is using your mains electricity to </a:t>
            </a:r>
            <a:r>
              <a:rPr lang="en-US" sz="3200" b="1">
                <a:solidFill>
                  <a:srgbClr val="FF0000"/>
                </a:solidFill>
                <a:highlight>
                  <a:srgbClr val="FFFF00"/>
                </a:highlight>
                <a:latin typeface="Arial Bold" panose="020B0604020202020204" charset="0"/>
                <a:cs typeface="Arial Bold" panose="020B0604020202020204" charset="0"/>
                <a:sym typeface="+mn-ea"/>
              </a:rPr>
              <a:t>re</a:t>
            </a:r>
            <a:r>
              <a:rPr lang="en-US" sz="320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charge</a:t>
            </a:r>
            <a:r>
              <a:rPr lang="en-US" sz="32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his car battery.</a:t>
            </a:r>
            <a:endParaRPr lang="en-US" sz="32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49985" y="5248275"/>
            <a:ext cx="6080125" cy="7804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32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[compare]: charge &amp; change</a:t>
            </a:r>
            <a:endParaRPr lang="en-US" sz="32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0045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s</a:t>
            </a:r>
            <a:r>
              <a:rPr lang="en-US" altLang="zh-CN" sz="4000">
                <a:solidFill>
                  <a:schemeClr val="tx1"/>
                </a:solidFill>
                <a:sym typeface="+mn-lt"/>
              </a:rPr>
              <a:t>tep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25030" y="1100455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n.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步骤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854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endParaRPr lang="zh-CN" altLang="en-US" sz="40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77545" y="2580640"/>
            <a:ext cx="9806305" cy="21590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Then they add hair to the statue's </a:t>
            </a:r>
            <a:r>
              <a:rPr lang="en-US" altLang="zh-CN" sz="3200" b="1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sz="3200" b="1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雕像的</a:t>
            </a:r>
            <a:r>
              <a:rPr lang="en-US" altLang="zh-CN" sz="3200" b="1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)</a:t>
            </a:r>
            <a:r>
              <a:rPr lang="en-US" sz="320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head. This …… can take about 140 hours to finish.</a:t>
            </a:r>
            <a:endParaRPr lang="en-US" sz="32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sz="320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1220470" y="4500880"/>
          <a:ext cx="6255385" cy="17113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755"/>
                <a:gridCol w="1958340"/>
                <a:gridCol w="565150"/>
                <a:gridCol w="1570990"/>
                <a:gridCol w="558165"/>
                <a:gridCol w="1022985"/>
              </a:tblGrid>
              <a:tr h="1711325">
                <a:tc>
                  <a:txBody>
                    <a:bodyPr/>
                    <a:p>
                      <a:pPr algn="l">
                        <a:lnSpc>
                          <a:spcPct val="14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3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Bold" panose="020B0604020202020204" charset="0"/>
                          <a:cs typeface="Arial Bold" panose="020B0604020202020204" charset="0"/>
                        </a:rPr>
                        <a:t>A.</a:t>
                      </a:r>
                      <a:endParaRPr lang="en-US" altLang="en-US" sz="3600" b="1">
                        <a:solidFill>
                          <a:schemeClr val="accent5">
                            <a:lumMod val="75000"/>
                          </a:schemeClr>
                        </a:solidFill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 marL="0" marR="0" marT="0" marB="0" vert="horz" anchor="t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4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3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Bold" panose="020B0604020202020204" charset="0"/>
                          <a:cs typeface="Arial Bold" panose="020B0604020202020204" charset="0"/>
                        </a:rPr>
                        <a:t>way</a:t>
                      </a:r>
                      <a:endParaRPr lang="en-US" sz="3600" b="1">
                        <a:solidFill>
                          <a:schemeClr val="accent5">
                            <a:lumMod val="75000"/>
                          </a:schemeClr>
                        </a:solidFill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 marL="0" marR="0" marT="0" marB="0" vert="horz" anchor="t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4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3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Bold" panose="020B0604020202020204" charset="0"/>
                          <a:cs typeface="Arial Bold" panose="020B0604020202020204" charset="0"/>
                        </a:rPr>
                        <a:t>B.</a:t>
                      </a:r>
                      <a:endParaRPr lang="en-US" sz="3600" b="1">
                        <a:solidFill>
                          <a:schemeClr val="accent5">
                            <a:lumMod val="75000"/>
                          </a:schemeClr>
                        </a:solidFill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 marL="0" marR="0" marT="0" marB="0" vert="horz" anchor="t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4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3600" b="1">
                          <a:solidFill>
                            <a:schemeClr val="accent5">
                              <a:lumMod val="75000"/>
                            </a:schemeClr>
                          </a:solidFill>
                          <a:highlight>
                            <a:srgbClr val="FFFF00"/>
                          </a:highlight>
                          <a:latin typeface="Arial Bold" panose="020B0604020202020204" charset="0"/>
                          <a:cs typeface="Arial Bold" panose="020B0604020202020204" charset="0"/>
                        </a:rPr>
                        <a:t>step</a:t>
                      </a:r>
                      <a:endParaRPr lang="en-US" sz="3600" b="1">
                        <a:solidFill>
                          <a:schemeClr val="accent5">
                            <a:lumMod val="75000"/>
                          </a:schemeClr>
                        </a:solidFill>
                        <a:highlight>
                          <a:srgbClr val="FFFF00"/>
                        </a:highlight>
                        <a:latin typeface="Arial Bold" panose="020B0604020202020204" charset="0"/>
                        <a:cs typeface="Arial Bold" panose="020B0604020202020204" charset="0"/>
                        <a:sym typeface="+mn-ea"/>
                      </a:endParaRPr>
                    </a:p>
                    <a:p>
                      <a:pPr algn="l">
                        <a:lnSpc>
                          <a:spcPct val="14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3600" b="1">
                        <a:solidFill>
                          <a:schemeClr val="accent5">
                            <a:lumMod val="75000"/>
                          </a:schemeClr>
                        </a:solidFill>
                        <a:highlight>
                          <a:srgbClr val="FFFF00"/>
                        </a:highlight>
                        <a:latin typeface="Arial Bold" panose="020B0604020202020204" charset="0"/>
                        <a:cs typeface="Arial Bold" panose="020B0604020202020204" charset="0"/>
                        <a:sym typeface="+mn-ea"/>
                      </a:endParaRPr>
                    </a:p>
                  </a:txBody>
                  <a:tcPr marL="0" marR="0" marT="0" marB="0" vert="horz" anchor="t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4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3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Bold" panose="020B0604020202020204" charset="0"/>
                          <a:cs typeface="Arial Bold" panose="020B0604020202020204" charset="0"/>
                        </a:rPr>
                        <a:t>C.</a:t>
                      </a:r>
                      <a:endParaRPr lang="en-US" sz="3600" b="1">
                        <a:solidFill>
                          <a:schemeClr val="accent5">
                            <a:lumMod val="75000"/>
                          </a:schemeClr>
                        </a:solidFill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 marL="0" marR="0" marT="0" marB="0" vert="horz" anchor="t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4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3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 Bold" panose="020B0604020202020204" charset="0"/>
                          <a:cs typeface="Arial Bold" panose="020B0604020202020204" charset="0"/>
                        </a:rPr>
                        <a:t>plan</a:t>
                      </a:r>
                      <a:endParaRPr lang="en-US" sz="3600" b="1">
                        <a:solidFill>
                          <a:schemeClr val="accent5">
                            <a:lumMod val="75000"/>
                          </a:schemeClr>
                        </a:solidFill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 marL="0" marR="0" marT="0" marB="0" vert="horz" anchor="t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0045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ring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312660" y="1148715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（给某人）打电话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77545" y="2580640"/>
            <a:ext cx="6968490" cy="1803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I haven't seen her for a long time,but I think she'll come. I'll </a:t>
            </a:r>
            <a:r>
              <a:rPr lang="en-US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ring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her.</a:t>
            </a: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635" y="4072255"/>
            <a:ext cx="6257290" cy="1684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Question: ‘ring’ here means: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zh-CN" altLang="en-US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call                        B.circle</a:t>
            </a:r>
            <a:endParaRPr lang="en-US" altLang="zh-CN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0045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building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25030" y="1100455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n.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建筑物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77545" y="2580640"/>
            <a:ext cx="6968490" cy="12325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It was strange being on the water among so many big </a:t>
            </a:r>
            <a:r>
              <a:rPr lang="en-US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buildings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.</a:t>
            </a: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7740" y="4185920"/>
            <a:ext cx="6257290" cy="12966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Which can be call a building?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ceiling      B. lift       C. castle</a:t>
            </a:r>
            <a:endParaRPr lang="en-US" altLang="zh-CN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0045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bright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71385" y="1118235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adj.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明亮的；鲜艳的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93445" y="2388870"/>
            <a:ext cx="6968490" cy="3246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650">
                <a:sym typeface="+mn-lt"/>
              </a:rPr>
              <a:t>Yes, the moon was very </a:t>
            </a:r>
            <a:r>
              <a:rPr lang="en-US" altLang="zh-CN" sz="2650">
                <a:highlight>
                  <a:srgbClr val="FFFF00"/>
                </a:highlight>
                <a:sym typeface="+mn-lt"/>
              </a:rPr>
              <a:t>bright</a:t>
            </a:r>
            <a:r>
              <a:rPr lang="en-US" altLang="zh-CN" sz="2650">
                <a:sym typeface="+mn-lt"/>
              </a:rPr>
              <a:t>.</a:t>
            </a:r>
            <a:endParaRPr lang="en-US" altLang="zh-CN" sz="2650">
              <a:sym typeface="+mn-lt"/>
            </a:endParaRPr>
          </a:p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zh-CN" sz="1400">
              <a:sym typeface="+mn-lt"/>
            </a:endParaRPr>
          </a:p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650">
                <a:sym typeface="+mn-lt"/>
              </a:rPr>
              <a:t>The </a:t>
            </a:r>
            <a:r>
              <a:rPr lang="en-US" altLang="zh-CN" sz="2650">
                <a:highlight>
                  <a:srgbClr val="FFFF00"/>
                </a:highlight>
                <a:sym typeface="+mn-lt"/>
              </a:rPr>
              <a:t>bright</a:t>
            </a:r>
            <a:r>
              <a:rPr lang="en-US" altLang="zh-CN" sz="2650">
                <a:sym typeface="+mn-lt"/>
              </a:rPr>
              <a:t> colours you've used for those roses you've painted are fantastic!</a:t>
            </a:r>
            <a:endParaRPr lang="en-US" altLang="zh-CN" sz="2650">
              <a:sym typeface="+mn-lt"/>
            </a:endParaRPr>
          </a:p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14095" y="4676140"/>
            <a:ext cx="6257290" cy="12966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Which can be a bright color?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brown              </a:t>
            </a:r>
            <a:r>
              <a:rPr lang="en-US" altLang="zh-CN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B</a:t>
            </a:r>
            <a:r>
              <a:rPr lang="en-US" altLang="zh-CN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. orange</a:t>
            </a:r>
            <a:endParaRPr lang="en-US" altLang="zh-CN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0045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light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25030" y="1100455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n.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光亮；灯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64540" y="2329815"/>
            <a:ext cx="6968490" cy="29444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We've lots of cupboards,but I think we need more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lang="en-US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light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. 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It's a bit dark.</a:t>
            </a: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I've already got a table in there.I got this little </a:t>
            </a:r>
            <a:r>
              <a:rPr lang="en-US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light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to go on it.</a:t>
            </a: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7740" y="4801235"/>
            <a:ext cx="6257290" cy="12966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 light can make your room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_____.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bright               </a:t>
            </a:r>
            <a:r>
              <a:rPr lang="en-US" altLang="zh-CN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B</a:t>
            </a:r>
            <a:r>
              <a:rPr lang="en-US" altLang="zh-CN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. dark</a:t>
            </a:r>
            <a:endParaRPr lang="en-US" altLang="zh-CN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0045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offer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25030" y="1100455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提供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93445" y="2552065"/>
            <a:ext cx="6968490" cy="12325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Who says the camp </a:t>
            </a:r>
            <a:r>
              <a:rPr lang="en-US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offer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s water sports?</a:t>
            </a: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I also </a:t>
            </a:r>
            <a:r>
              <a:rPr lang="en-US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offered to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help my uncle Alan.</a:t>
            </a: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3445" y="4525010"/>
            <a:ext cx="9213215" cy="12966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An Outlet(</a:t>
            </a:r>
            <a:r>
              <a:rPr lang="zh-CN" alt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奥特莱斯商场</a:t>
            </a:r>
            <a:r>
              <a:rPr lang="en-US" sz="280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) is more likely to offer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_____ .</a:t>
            </a:r>
            <a:endParaRPr lang="en-US" sz="2800" b="1" u="sng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expensive 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goods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              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B. goods with discount</a:t>
            </a:r>
            <a:r>
              <a:rPr lang="en-US" sz="28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s</a:t>
            </a:r>
            <a:endParaRPr lang="en-US" sz="280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80" y="2319020"/>
            <a:ext cx="2318385" cy="3813810"/>
          </a:xfrm>
          <a:prstGeom prst="rect">
            <a:avLst/>
          </a:prstGeom>
        </p:spPr>
      </p:pic>
      <p:sp>
        <p:nvSpPr>
          <p:cNvPr id="12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62810" y="110045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pick </a:t>
            </a:r>
            <a:r>
              <a:rPr lang="en-US" altLang="zh-CN" sz="4000">
                <a:solidFill>
                  <a:schemeClr val="tx1"/>
                </a:solidFill>
                <a:sym typeface="+mn-lt"/>
              </a:rPr>
              <a:t>up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225030" y="1100455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接送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211070" y="4385945"/>
            <a:ext cx="963295" cy="304800"/>
          </a:xfrm>
          <a:prstGeom prst="roundRect">
            <a:avLst/>
          </a:pr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65283" y="2621280"/>
            <a:ext cx="4765040" cy="1614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3300" b="1" dirty="0">
                <a:latin typeface="Tw Cen MT" panose="020B0602020104020603" pitchFamily="34" charset="0"/>
                <a:cs typeface="Tw Cen MT" panose="020B0602020104020603" pitchFamily="34" charset="0"/>
                <a:sym typeface="+mn-ea"/>
              </a:rPr>
              <a:t>Mark has texted Stefan</a:t>
            </a:r>
            <a:endParaRPr lang="en-US" altLang="zh-CN" sz="3300" b="1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  <a:p>
            <a:pPr algn="ctr"/>
            <a:endParaRPr lang="en-US" altLang="zh-CN" sz="3300" b="1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  <a:p>
            <a:pPr algn="l"/>
            <a:r>
              <a:rPr lang="en-US" sz="320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C. to offer him a lift.</a:t>
            </a:r>
            <a:r>
              <a:rPr lang="en-US" altLang="zh-CN" sz="3300" b="1" dirty="0">
                <a:latin typeface="Tw Cen MT" panose="020B0602020104020603" pitchFamily="34" charset="0"/>
                <a:cs typeface="Tw Cen MT" panose="020B0602020104020603" pitchFamily="34" charset="0"/>
                <a:sym typeface="+mn-ea"/>
              </a:rPr>
              <a:t> </a:t>
            </a:r>
            <a:r>
              <a:rPr lang="zh-CN" altLang="en-US" sz="3300" b="1" dirty="0">
                <a:latin typeface="Tw Cen MT" panose="020B0602020104020603" pitchFamily="34" charset="0"/>
                <a:cs typeface="Tw Cen MT" panose="020B0602020104020603" pitchFamily="34" charset="0"/>
                <a:sym typeface="+mn-ea"/>
              </a:rPr>
              <a:t>✅</a:t>
            </a:r>
            <a:endParaRPr lang="zh-CN" altLang="en-US" sz="3300" b="1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0045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choose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25030" y="1100455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选择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93445" y="2580640"/>
            <a:ext cx="6968490" cy="23736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… women to join the US space programme. Six women, including Sally, were </a:t>
            </a:r>
            <a:r>
              <a:rPr lang="en-US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chosen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to become astronauts.</a:t>
            </a: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4875" y="4460875"/>
            <a:ext cx="10564495" cy="11887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55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Question: choose can be paraphrased by</a:t>
            </a:r>
            <a:r>
              <a:rPr 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____.</a:t>
            </a:r>
            <a:endParaRPr 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pick                   B. </a:t>
            </a:r>
            <a:r>
              <a:rPr 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chase</a:t>
            </a:r>
            <a:endParaRPr 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62810" y="1100455"/>
            <a:ext cx="2944495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000">
                <a:solidFill>
                  <a:schemeClr val="tx1"/>
                </a:solidFill>
                <a:sym typeface="+mn-lt"/>
              </a:rPr>
              <a:t>try</a:t>
            </a:r>
            <a:endParaRPr lang="en-US" altLang="zh-CN" sz="400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25030" y="1100455"/>
            <a:ext cx="2943860" cy="4127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v. </a:t>
            </a: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尝试</a:t>
            </a:r>
            <a:r>
              <a:rPr lang="en-US" altLang="zh-CN" sz="3600">
                <a:solidFill>
                  <a:schemeClr val="dk1">
                    <a:lumMod val="85000"/>
                    <a:lumOff val="15000"/>
                  </a:schemeClr>
                </a:solidFill>
                <a:sym typeface="+mn-lt"/>
              </a:rPr>
              <a:t> </a:t>
            </a:r>
            <a:endParaRPr lang="zh-CN" altLang="en-US" sz="3600">
              <a:solidFill>
                <a:schemeClr val="dk1">
                  <a:lumMod val="85000"/>
                  <a:lumOff val="15000"/>
                </a:schemeClr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8485" y="3926205"/>
            <a:ext cx="309880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endParaRPr lang="zh-CN" altLang="en-US" sz="3300" dirty="0">
              <a:latin typeface="Tw Cen MT" panose="020B0602020104020603" pitchFamily="34" charset="0"/>
              <a:cs typeface="Tw Cen MT" panose="020B0602020104020603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77545" y="2351405"/>
            <a:ext cx="9341485" cy="23736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Try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going for a walk or a run,and do some sport as often as you can. </a:t>
            </a:r>
            <a:r>
              <a:rPr lang="en-US" altLang="zh-CN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en-US" altLang="zh-CN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try</a:t>
            </a:r>
            <a:r>
              <a:rPr lang="en-US" altLang="zh-CN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+</a:t>
            </a:r>
            <a:r>
              <a:rPr lang="zh-CN" alt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名词</a:t>
            </a:r>
            <a:r>
              <a:rPr lang="en-US" altLang="zh-CN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)</a:t>
            </a:r>
            <a:endParaRPr lang="en-US" altLang="zh-CN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Try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not </a:t>
            </a:r>
            <a:r>
              <a:rPr lang="en-US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to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 do your homework at the last minute</a:t>
            </a:r>
            <a:r>
              <a:rPr lang="en-US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. </a:t>
            </a:r>
            <a:r>
              <a:rPr lang="en-US" altLang="zh-CN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en-US" altLang="zh-CN" sz="265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try</a:t>
            </a:r>
            <a:r>
              <a:rPr lang="en-US" altLang="zh-CN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+to </a:t>
            </a:r>
            <a:r>
              <a:rPr lang="en-US" altLang="zh-CN" sz="2650">
                <a:solidFill>
                  <a:srgbClr val="000000"/>
                </a:solidFill>
                <a:latin typeface="Arial" panose="020B0604020202020204" pitchFamily="34" charset="0"/>
                <a:sym typeface="+mn-ea"/>
              </a:rPr>
              <a:t>do)</a:t>
            </a:r>
            <a:endParaRPr lang="en-US" altLang="zh-CN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  <a:p>
            <a:pPr marL="4572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2650">
              <a:solidFill>
                <a:srgbClr val="00000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4875" y="4460875"/>
            <a:ext cx="10564495" cy="11887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55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Please try hard</a:t>
            </a:r>
            <a:r>
              <a:rPr 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____ </a:t>
            </a:r>
            <a:r>
              <a:rPr lang="en-US" sz="2550" b="1" u="sng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the project</a:t>
            </a:r>
            <a:r>
              <a:rPr 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.</a:t>
            </a:r>
            <a:endParaRPr 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A. to complete            B. complet</a:t>
            </a:r>
            <a:r>
              <a:rPr lang="en-US" sz="2550" b="1">
                <a:solidFill>
                  <a:schemeClr val="accent5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e</a:t>
            </a:r>
            <a:endParaRPr lang="en-US" sz="2550" b="1">
              <a:solidFill>
                <a:schemeClr val="accent5">
                  <a:lumMod val="75000"/>
                </a:schemeClr>
              </a:solidFill>
              <a:latin typeface="Arial Bold" panose="020B0604020202020204" charset="0"/>
              <a:cs typeface="Arial Bold" panose="020B0604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5330" y="2466340"/>
            <a:ext cx="11023600" cy="1466850"/>
          </a:xfrm>
        </p:spPr>
        <p:txBody>
          <a:bodyPr>
            <a:noAutofit/>
          </a:bodyPr>
          <a:p>
            <a:pPr>
              <a:lnSpc>
                <a:spcPct val="70000"/>
              </a:lnSpc>
            </a:pPr>
            <a:r>
              <a:rPr lang="en-US" altLang="zh-CN" sz="8000">
                <a:solidFill>
                  <a:srgbClr val="5C8FC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 you tomorrow</a:t>
            </a:r>
            <a:r>
              <a:rPr lang="zh-CN" altLang="en-US" sz="8000">
                <a:solidFill>
                  <a:srgbClr val="5C8FC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🌙</a:t>
            </a:r>
            <a:endParaRPr lang="zh-CN" altLang="en-US" sz="8000">
              <a:solidFill>
                <a:srgbClr val="5C8FC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bright="-6000" contrast="12000"/>
          </a:blip>
          <a:stretch>
            <a:fillRect/>
          </a:stretch>
        </p:blipFill>
        <p:spPr>
          <a:xfrm>
            <a:off x="9099550" y="351155"/>
            <a:ext cx="2997835" cy="6756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14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14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PRESET_TEXT" val="极简大气通用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545_1*b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61.xml><?xml version="1.0" encoding="utf-8"?>
<p:tagLst xmlns:p="http://schemas.openxmlformats.org/presentationml/2006/main">
  <p:tag name="KSO_WM_TEMPLATE_THUMBS_INDEX" val="1、2、6、7、9、11、14、15"/>
  <p:tag name="KSO_WM_SLIDE_ID" val="custom2020254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202545"/>
  <p:tag name="KSO_WM_SLIDE_LAYOUT" val="a_b"/>
  <p:tag name="KSO_WM_SLIDE_LAYOUT_CNT" val="1_3"/>
  <p:tag name="KSO_WM_SPECIAL_SOURCE" val="bdnull"/>
</p:tagLst>
</file>

<file path=ppt/tags/tag162.xml><?xml version="1.0" encoding="utf-8"?>
<p:tagLst xmlns:p="http://schemas.openxmlformats.org/presentationml/2006/main">
  <p:tag name="KSO_WM_UNIT_TABLE_BEAUTIFY" val="smartTable{70ea7e00-16f8-4eb7-a546-5027cf58d62f}"/>
  <p:tag name="TABLE_ENDDRAG_ORIGIN_RECT" val="907*467"/>
  <p:tag name="TABLE_ENDDRAG_RECT" val="28*59*907*467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2545"/>
  <p:tag name="KSO_WM_SPECIAL_SOURCE" val="bdnull"/>
</p:tagLst>
</file>

<file path=ppt/tags/tag164.xml><?xml version="1.0" encoding="utf-8"?>
<p:tagLst xmlns:p="http://schemas.openxmlformats.org/presentationml/2006/main">
  <p:tag name="KSO_WM_UNIT_TABLE_BEAUTIFY" val="smartTable{70ea7e00-16f8-4eb7-a546-5027cf58d62f}"/>
  <p:tag name="TABLE_ENDDRAG_ORIGIN_RECT" val="907*467"/>
  <p:tag name="TABLE_ENDDRAG_RECT" val="28*59*907*467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02545"/>
  <p:tag name="KSO_WM_SPECIAL_SOURCE" val="bdnull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67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68.xml><?xml version="1.0" encoding="utf-8"?>
<p:tagLst xmlns:p="http://schemas.openxmlformats.org/presentationml/2006/main">
  <p:tag name="KSO_WM_SPECIAL_SOURCE" val="bdnull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70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71.xml><?xml version="1.0" encoding="utf-8"?>
<p:tagLst xmlns:p="http://schemas.openxmlformats.org/presentationml/2006/main">
  <p:tag name="KSO_WM_SPECIAL_SOURCE" val="bdnull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73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74.xml><?xml version="1.0" encoding="utf-8"?>
<p:tagLst xmlns:p="http://schemas.openxmlformats.org/presentationml/2006/main">
  <p:tag name="KSO_WM_SPECIAL_SOURCE" val="bdnull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77.xml><?xml version="1.0" encoding="utf-8"?>
<p:tagLst xmlns:p="http://schemas.openxmlformats.org/presentationml/2006/main">
  <p:tag name="KSO_WM_SPECIAL_SOURCE" val="bdnull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80.xml><?xml version="1.0" encoding="utf-8"?>
<p:tagLst xmlns:p="http://schemas.openxmlformats.org/presentationml/2006/main">
  <p:tag name="KSO_WM_SPECIAL_SOURCE" val="bdnull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83.xml><?xml version="1.0" encoding="utf-8"?>
<p:tagLst xmlns:p="http://schemas.openxmlformats.org/presentationml/2006/main">
  <p:tag name="KSO_WM_SPECIAL_SOURCE" val="bdnull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85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86.xml><?xml version="1.0" encoding="utf-8"?>
<p:tagLst xmlns:p="http://schemas.openxmlformats.org/presentationml/2006/main">
  <p:tag name="KSO_WM_SPECIAL_SOURCE" val="bdnull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88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89.xml><?xml version="1.0" encoding="utf-8"?>
<p:tagLst xmlns:p="http://schemas.openxmlformats.org/presentationml/2006/main">
  <p:tag name="KSO_WM_SPECIAL_SOURCE" val="bdnull"/>
</p:tagLst>
</file>

<file path=ppt/tags/tag190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91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92.xml><?xml version="1.0" encoding="utf-8"?>
<p:tagLst xmlns:p="http://schemas.openxmlformats.org/presentationml/2006/main">
  <p:tag name="KSO_WM_SPECIAL_SOURCE" val="bdnull"/>
</p:tagLst>
</file>

<file path=ppt/tags/tag193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94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95.xml><?xml version="1.0" encoding="utf-8"?>
<p:tagLst xmlns:p="http://schemas.openxmlformats.org/presentationml/2006/main">
  <p:tag name="KSO_WM_SPECIAL_SOURCE" val="bdnull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97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98.xml><?xml version="1.0" encoding="utf-8"?>
<p:tagLst xmlns:p="http://schemas.openxmlformats.org/presentationml/2006/main">
  <p:tag name="KSO_WM_SPECIAL_SOURCE" val="bdnull"/>
</p:tagLst>
</file>

<file path=ppt/tags/tag199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00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01.xml><?xml version="1.0" encoding="utf-8"?>
<p:tagLst xmlns:p="http://schemas.openxmlformats.org/presentationml/2006/main">
  <p:tag name="KSO_WM_SPECIAL_SOURCE" val="bdnull"/>
</p:tagLst>
</file>

<file path=ppt/tags/tag202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03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04.xml><?xml version="1.0" encoding="utf-8"?>
<p:tagLst xmlns:p="http://schemas.openxmlformats.org/presentationml/2006/main">
  <p:tag name="KSO_WM_SPECIAL_SOURCE" val="bdnull"/>
</p:tagLst>
</file>

<file path=ppt/tags/tag205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06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07.xml><?xml version="1.0" encoding="utf-8"?>
<p:tagLst xmlns:p="http://schemas.openxmlformats.org/presentationml/2006/main">
  <p:tag name="KSO_WM_SPECIAL_SOURCE" val="bdnull"/>
</p:tagLst>
</file>

<file path=ppt/tags/tag208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09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10.xml><?xml version="1.0" encoding="utf-8"?>
<p:tagLst xmlns:p="http://schemas.openxmlformats.org/presentationml/2006/main">
  <p:tag name="KSO_WM_SPECIAL_SOURCE" val="bdnull"/>
</p:tagLst>
</file>

<file path=ppt/tags/tag211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12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13.xml><?xml version="1.0" encoding="utf-8"?>
<p:tagLst xmlns:p="http://schemas.openxmlformats.org/presentationml/2006/main">
  <p:tag name="KSO_WM_SPECIAL_SOURCE" val="bdnull"/>
</p:tagLst>
</file>

<file path=ppt/tags/tag214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15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16.xml><?xml version="1.0" encoding="utf-8"?>
<p:tagLst xmlns:p="http://schemas.openxmlformats.org/presentationml/2006/main">
  <p:tag name="KSO_WM_SPECIAL_SOURCE" val="bdnull"/>
</p:tagLst>
</file>

<file path=ppt/tags/tag217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18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19.xml><?xml version="1.0" encoding="utf-8"?>
<p:tagLst xmlns:p="http://schemas.openxmlformats.org/presentationml/2006/main">
  <p:tag name="KSO_WM_SPECIAL_SOURCE" val="bdnull"/>
</p:tagLst>
</file>

<file path=ppt/tags/tag220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21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22.xml><?xml version="1.0" encoding="utf-8"?>
<p:tagLst xmlns:p="http://schemas.openxmlformats.org/presentationml/2006/main">
  <p:tag name="KSO_WM_SPECIAL_SOURCE" val="bdnull"/>
</p:tagLst>
</file>

<file path=ppt/tags/tag223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24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25.xml><?xml version="1.0" encoding="utf-8"?>
<p:tagLst xmlns:p="http://schemas.openxmlformats.org/presentationml/2006/main">
  <p:tag name="TABLE_ENDDRAG_ORIGIN_RECT" val="302*113"/>
  <p:tag name="TABLE_ENDDRAG_RECT" val="86*211*302*113"/>
</p:tagLst>
</file>

<file path=ppt/tags/tag226.xml><?xml version="1.0" encoding="utf-8"?>
<p:tagLst xmlns:p="http://schemas.openxmlformats.org/presentationml/2006/main">
  <p:tag name="KSO_WM_SPECIAL_SOURCE" val="bdnull"/>
</p:tagLst>
</file>

<file path=ppt/tags/tag227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28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29.xml><?xml version="1.0" encoding="utf-8"?>
<p:tagLst xmlns:p="http://schemas.openxmlformats.org/presentationml/2006/main">
  <p:tag name="KSO_WM_SPECIAL_SOURCE" val="bdnull"/>
</p:tagLst>
</file>

<file path=ppt/tags/tag230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31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32.xml><?xml version="1.0" encoding="utf-8"?>
<p:tagLst xmlns:p="http://schemas.openxmlformats.org/presentationml/2006/main">
  <p:tag name="TABLE_ENDDRAG_ORIGIN_RECT" val="395*99"/>
  <p:tag name="TABLE_ENDDRAG_RECT" val="146*392*395*99"/>
</p:tagLst>
</file>

<file path=ppt/tags/tag233.xml><?xml version="1.0" encoding="utf-8"?>
<p:tagLst xmlns:p="http://schemas.openxmlformats.org/presentationml/2006/main">
  <p:tag name="KSO_WM_SPECIAL_SOURCE" val="bdnull"/>
</p:tagLst>
</file>

<file path=ppt/tags/tag234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35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36.xml><?xml version="1.0" encoding="utf-8"?>
<p:tagLst xmlns:p="http://schemas.openxmlformats.org/presentationml/2006/main">
  <p:tag name="KSO_WM_SPECIAL_SOURCE" val="bdnull"/>
</p:tagLst>
</file>

<file path=ppt/tags/tag237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38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39.xml><?xml version="1.0" encoding="utf-8"?>
<p:tagLst xmlns:p="http://schemas.openxmlformats.org/presentationml/2006/main">
  <p:tag name="KSO_WM_SPECIAL_SOURCE" val="bdnull"/>
</p:tagLst>
</file>

<file path=ppt/tags/tag240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41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42.xml><?xml version="1.0" encoding="utf-8"?>
<p:tagLst xmlns:p="http://schemas.openxmlformats.org/presentationml/2006/main">
  <p:tag name="KSO_WM_SPECIAL_SOURCE" val="bdnull"/>
</p:tagLst>
</file>

<file path=ppt/tags/tag243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44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45.xml><?xml version="1.0" encoding="utf-8"?>
<p:tagLst xmlns:p="http://schemas.openxmlformats.org/presentationml/2006/main">
  <p:tag name="KSO_WM_SPECIAL_SOURCE" val="bdnull"/>
</p:tagLst>
</file>

<file path=ppt/tags/tag246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47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48.xml><?xml version="1.0" encoding="utf-8"?>
<p:tagLst xmlns:p="http://schemas.openxmlformats.org/presentationml/2006/main">
  <p:tag name="KSO_WM_SPECIAL_SOURCE" val="bdnull"/>
</p:tagLst>
</file>

<file path=ppt/tags/tag249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50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51.xml><?xml version="1.0" encoding="utf-8"?>
<p:tagLst xmlns:p="http://schemas.openxmlformats.org/presentationml/2006/main">
  <p:tag name="KSO_WM_SPECIAL_SOURCE" val="bdnull"/>
</p:tagLst>
</file>

<file path=ppt/tags/tag252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53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54.xml><?xml version="1.0" encoding="utf-8"?>
<p:tagLst xmlns:p="http://schemas.openxmlformats.org/presentationml/2006/main">
  <p:tag name="KSO_WM_SPECIAL_SOURCE" val="bdnull"/>
</p:tagLst>
</file>

<file path=ppt/tags/tag255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56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545_1*b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57.xml><?xml version="1.0" encoding="utf-8"?>
<p:tagLst xmlns:p="http://schemas.openxmlformats.org/presentationml/2006/main">
  <p:tag name="KSO_WM_SPECIAL_SOURCE" val="bdnull"/>
</p:tagLst>
</file>

<file path=ppt/tags/tag258.xml><?xml version="1.0" encoding="utf-8"?>
<p:tagLst xmlns:p="http://schemas.openxmlformats.org/presentationml/2006/main">
  <p:tag name="KSO_WM_BEAUTIFY_FLAG" val="#wm#"/>
  <p:tag name="KSO_WM_TEMPLATE_CATEGORY" val="custom"/>
  <p:tag name="KSO_WM_TEMPLATE_INDEX" val="20202545"/>
  <p:tag name="KSO_WM_SPECIAL_SOURCE" val="bdnull"/>
</p:tagLst>
</file>

<file path=ppt/tags/tag259.xml><?xml version="1.0" encoding="utf-8"?>
<p:tagLst xmlns:p="http://schemas.openxmlformats.org/presentationml/2006/main">
  <p:tag name="KSO_WPP_MARK_KEY" val="a1f4e2c9-ed9a-4f70-95e8-fb4b6de77beb"/>
  <p:tag name="COMMONDATA" val="eyJoZGlkIjoiNDcyMmUwNjE4N2ZkZjI1MzM0MDQ3NzBkM2YwZDFjYW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lang="en-US" altLang="zh-CN" sz="6600" dirty="0">
            <a:latin typeface="Tw Cen MT" panose="020B0602020104020603" pitchFamily="34" charset="0"/>
            <a:cs typeface="Tw Cen MT" panose="020B0602020104020603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4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5838</Words>
  <Application>WPS 演示</Application>
  <PresentationFormat>自定义</PresentationFormat>
  <Paragraphs>575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53" baseType="lpstr">
      <vt:lpstr>Arial</vt:lpstr>
      <vt:lpstr>宋体</vt:lpstr>
      <vt:lpstr>Wingdings</vt:lpstr>
      <vt:lpstr>Tw Cen MT</vt:lpstr>
      <vt:lpstr>苹方-简</vt:lpstr>
      <vt:lpstr>微软雅黑</vt:lpstr>
      <vt:lpstr>汉仪旗黑</vt:lpstr>
      <vt:lpstr>汉仪旗黑-85S</vt:lpstr>
      <vt:lpstr>汉仪中黑KW</vt:lpstr>
      <vt:lpstr>Viner Hand ITC</vt:lpstr>
      <vt:lpstr>Arial Bold</vt:lpstr>
      <vt:lpstr>宋体</vt:lpstr>
      <vt:lpstr>汉仪书宋二KW</vt:lpstr>
      <vt:lpstr>Calibri</vt:lpstr>
      <vt:lpstr>Helvetica Neue</vt:lpstr>
      <vt:lpstr>Arial Unicode MS</vt:lpstr>
      <vt:lpstr>Apple Color Emoji</vt:lpstr>
      <vt:lpstr>Office 主题</vt:lpstr>
      <vt:lpstr>1_Office 主题​​</vt:lpstr>
      <vt:lpstr>10天剑桥A2核心词汇</vt:lpstr>
      <vt:lpstr>基础词汇——38个</vt:lpstr>
      <vt:lpstr>基础词汇——38个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See you tomorrow🌙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suofei</dc:creator>
  <cp:lastModifiedBy>Echo</cp:lastModifiedBy>
  <cp:revision>212</cp:revision>
  <dcterms:created xsi:type="dcterms:W3CDTF">2024-03-19T04:27:46Z</dcterms:created>
  <dcterms:modified xsi:type="dcterms:W3CDTF">2024-03-19T04:27:46Z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2052-5.4.1.7920</vt:lpwstr>
  </property>
  <property fmtid="{D5CDD505-2E9C-101B-9397-08002B2CF9AE}" pid="3" name="ICV">
    <vt:lpwstr>EB109CC8198FE5B30443F165669250D4_43</vt:lpwstr>
  </property>
</Properties>
</file>